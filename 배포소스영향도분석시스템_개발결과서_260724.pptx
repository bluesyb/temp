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868679" y="1452880"/>
            <a:ext cx="5943601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OPS.AI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832104" y="1981868"/>
            <a:ext cx="6035040" cy="1339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2000"/>
              </a:lnSpc>
              <a:defRPr b="1" sz="38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배포 소스 영향도</a:t>
            </a:r>
          </a:p>
          <a:p>
            <a:pPr>
              <a:lnSpc>
                <a:spcPct val="102000"/>
              </a:lnSpc>
              <a:defRPr b="1" sz="38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분석 시스템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68680" y="3599938"/>
            <a:ext cx="5852160" cy="481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개발 결과서</a:t>
            </a:r>
          </a:p>
        </p:txBody>
      </p:sp>
      <p:sp>
        <p:nvSpPr>
          <p:cNvPr id="23" name="Shape 3"/>
          <p:cNvSpPr/>
          <p:nvPr/>
        </p:nvSpPr>
        <p:spPr>
          <a:xfrm>
            <a:off x="822960" y="4526279"/>
            <a:ext cx="5212080" cy="841249"/>
          </a:xfrm>
          <a:prstGeom prst="roundRect">
            <a:avLst>
              <a:gd name="adj" fmla="val 7609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1097280" y="4623053"/>
            <a:ext cx="475488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작성자  </a:t>
            </a:r>
            <a:r>
              <a:rPr>
                <a:solidFill>
                  <a:srgbClr val="1F1F1F"/>
                </a:solidFill>
              </a:rPr>
              <a:t>ICT Core Eng.팀 백승연 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097280" y="4974081"/>
            <a:ext cx="47548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2026.07</a:t>
            </a:r>
          </a:p>
        </p:txBody>
      </p:sp>
      <p:sp>
        <p:nvSpPr>
          <p:cNvPr id="26" name="Shape 6"/>
          <p:cNvSpPr/>
          <p:nvPr/>
        </p:nvSpPr>
        <p:spPr>
          <a:xfrm flipH="1">
            <a:off x="8346007" y="2879855"/>
            <a:ext cx="362052" cy="860547"/>
          </a:xfrm>
          <a:prstGeom prst="line">
            <a:avLst/>
          </a:prstGeom>
          <a:ln w="25400">
            <a:solidFill>
              <a:srgbClr val="1E4E9B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9454895" y="2871216"/>
            <a:ext cx="521209" cy="877825"/>
          </a:xfrm>
          <a:prstGeom prst="line">
            <a:avLst/>
          </a:prstGeom>
          <a:ln w="25400">
            <a:solidFill>
              <a:srgbClr val="1E4E9B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8613647" y="4343400"/>
            <a:ext cx="1060705" cy="0"/>
          </a:xfrm>
          <a:prstGeom prst="line">
            <a:avLst/>
          </a:prstGeom>
          <a:ln w="25400">
            <a:solidFill>
              <a:srgbClr val="1E4E9B"/>
            </a:solidFill>
            <a:headEnd type="triangle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8522207" y="1709927"/>
            <a:ext cx="1243585" cy="1243585"/>
          </a:xfrm>
          <a:prstGeom prst="ellipse">
            <a:avLst/>
          </a:prstGeom>
          <a:solidFill>
            <a:srgbClr val="1E4E9B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8567927" y="2097848"/>
            <a:ext cx="1152145" cy="46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Jira</a:t>
            </a:r>
          </a:p>
          <a:p>
            <a: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b="0" sz="900">
                <a:solidFill>
                  <a:srgbClr val="E6ECF6"/>
                </a:solidFill>
              </a:rPr>
              <a:t>이슈·릴리스</a:t>
            </a:r>
          </a:p>
        </p:txBody>
      </p:sp>
      <p:sp>
        <p:nvSpPr>
          <p:cNvPr id="31" name="Shape 11"/>
          <p:cNvSpPr/>
          <p:nvPr/>
        </p:nvSpPr>
        <p:spPr>
          <a:xfrm>
            <a:off x="7379207" y="3721608"/>
            <a:ext cx="1243585" cy="1243585"/>
          </a:xfrm>
          <a:prstGeom prst="ellipse">
            <a:avLst/>
          </a:prstGeom>
          <a:solidFill>
            <a:srgbClr val="1E4E9B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7424927" y="4109528"/>
            <a:ext cx="1152145" cy="46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SVN</a:t>
            </a:r>
          </a:p>
          <a:p>
            <a: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b="0" sz="900">
                <a:solidFill>
                  <a:srgbClr val="E6ECF6"/>
                </a:solidFill>
              </a:rPr>
              <a:t>소스 형상관리</a:t>
            </a:r>
          </a:p>
        </p:txBody>
      </p:sp>
      <p:sp>
        <p:nvSpPr>
          <p:cNvPr id="33" name="Shape 13"/>
          <p:cNvSpPr/>
          <p:nvPr/>
        </p:nvSpPr>
        <p:spPr>
          <a:xfrm>
            <a:off x="9665207" y="3721608"/>
            <a:ext cx="1243585" cy="1243585"/>
          </a:xfrm>
          <a:prstGeom prst="ellipse">
            <a:avLst/>
          </a:prstGeom>
          <a:solidFill>
            <a:srgbClr val="1E4E9B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" name="Text 14"/>
          <p:cNvSpPr txBox="1"/>
          <p:nvPr/>
        </p:nvSpPr>
        <p:spPr>
          <a:xfrm>
            <a:off x="9710927" y="4109528"/>
            <a:ext cx="1152145" cy="46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S-GOV</a:t>
            </a:r>
          </a:p>
          <a:p>
            <a: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b="0" sz="900">
                <a:solidFill>
                  <a:srgbClr val="E6ECF6"/>
                </a:solidFill>
              </a:rPr>
              <a:t>연관관계 분석</a:t>
            </a:r>
          </a:p>
        </p:txBody>
      </p:sp>
      <p:sp>
        <p:nvSpPr>
          <p:cNvPr id="35" name="Text 15"/>
          <p:cNvSpPr txBox="1"/>
          <p:nvPr/>
        </p:nvSpPr>
        <p:spPr>
          <a:xfrm>
            <a:off x="7086600" y="5490398"/>
            <a:ext cx="4572000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10000"/>
              </a:lnSpc>
              <a:defRPr b="1"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Jira · SVN · S-GOV  3개 시스템 상호 연동으로 배포 영향도 분석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SYSTEM OVERVIEW</a:t>
            </a:r>
          </a:p>
        </p:txBody>
      </p:sp>
      <p:sp>
        <p:nvSpPr>
          <p:cNvPr id="39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시스템 개요 — 무엇을 만들었나</a:t>
            </a:r>
          </a:p>
        </p:txBody>
      </p:sp>
      <p:sp>
        <p:nvSpPr>
          <p:cNvPr id="40" name="Text 3"/>
          <p:cNvSpPr txBox="1"/>
          <p:nvPr/>
        </p:nvSpPr>
        <p:spPr>
          <a:xfrm>
            <a:off x="548639" y="1323866"/>
            <a:ext cx="11155682" cy="589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7999"/>
              </a:lnSpc>
              <a:defRPr sz="14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배포 시마다 개발자가 SVN·Jira를 오가며 수기로 점검하던 소스 영향도 분석을, </a:t>
            </a:r>
            <a:r>
              <a:rPr b="1">
                <a:solidFill>
                  <a:srgbClr val="C00000"/>
                </a:solidFill>
              </a:rPr>
              <a:t>자동 수집 · AI 분석 기반의 통합 시스템</a:t>
            </a:r>
            <a:r>
              <a:t>으로 전환했습니다. 3개 레포가 각각 화면·형상관리 연동·AI 분석을 담당합니다.</a:t>
            </a:r>
          </a:p>
        </p:txBody>
      </p:sp>
      <p:sp>
        <p:nvSpPr>
          <p:cNvPr id="41" name="Shape 4"/>
          <p:cNvSpPr/>
          <p:nvPr/>
        </p:nvSpPr>
        <p:spPr>
          <a:xfrm>
            <a:off x="502919" y="2148839"/>
            <a:ext cx="3657601" cy="2788922"/>
          </a:xfrm>
          <a:prstGeom prst="roundRect">
            <a:avLst>
              <a:gd name="adj" fmla="val 26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Shape 5"/>
          <p:cNvSpPr/>
          <p:nvPr/>
        </p:nvSpPr>
        <p:spPr>
          <a:xfrm>
            <a:off x="777240" y="2377439"/>
            <a:ext cx="457201" cy="45720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6"/>
          <p:cNvSpPr txBox="1"/>
          <p:nvPr/>
        </p:nvSpPr>
        <p:spPr>
          <a:xfrm>
            <a:off x="822960" y="2446019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" name="Text 7"/>
          <p:cNvSpPr txBox="1"/>
          <p:nvPr/>
        </p:nvSpPr>
        <p:spPr>
          <a:xfrm>
            <a:off x="1417319" y="2470657"/>
            <a:ext cx="2514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source-analysis-frontend</a:t>
            </a:r>
          </a:p>
        </p:txBody>
      </p:sp>
      <p:sp>
        <p:nvSpPr>
          <p:cNvPr id="45" name="Text 8"/>
          <p:cNvSpPr txBox="1"/>
          <p:nvPr/>
        </p:nvSpPr>
        <p:spPr>
          <a:xfrm>
            <a:off x="822959" y="2949702"/>
            <a:ext cx="301752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화면 · 사용자 UI</a:t>
            </a:r>
          </a:p>
        </p:txBody>
      </p:sp>
      <p:sp>
        <p:nvSpPr>
          <p:cNvPr id="46" name="Text 9"/>
          <p:cNvSpPr txBox="1"/>
          <p:nvPr/>
        </p:nvSpPr>
        <p:spPr>
          <a:xfrm>
            <a:off x="822959" y="3310128"/>
            <a:ext cx="3017522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기술스택  </a:t>
            </a:r>
            <a:r>
              <a:rPr b="0">
                <a:solidFill>
                  <a:srgbClr val="1F1F1F"/>
                </a:solidFill>
              </a:rPr>
              <a:t>Vue 3 · TypeScript · Vite</a:t>
            </a:r>
          </a:p>
        </p:txBody>
      </p:sp>
      <p:sp>
        <p:nvSpPr>
          <p:cNvPr id="47" name="Text 10"/>
          <p:cNvSpPr txBox="1"/>
          <p:nvPr/>
        </p:nvSpPr>
        <p:spPr>
          <a:xfrm>
            <a:off x="822959" y="3803903"/>
            <a:ext cx="3017522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7999"/>
              </a:lnSpc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기능  </a:t>
            </a:r>
            <a:r>
              <a:rPr b="0">
                <a:solidFill>
                  <a:srgbClr val="1F1F1F"/>
                </a:solidFill>
              </a:rPr>
              <a:t>Release 간 소스 변경 분석 · Change Program 개발 소스 분석· Release 단위 개발 소스 추출· 아키텍처 화면 제공.</a:t>
            </a:r>
          </a:p>
        </p:txBody>
      </p:sp>
      <p:sp>
        <p:nvSpPr>
          <p:cNvPr id="48" name="Shape 11"/>
          <p:cNvSpPr/>
          <p:nvPr/>
        </p:nvSpPr>
        <p:spPr>
          <a:xfrm>
            <a:off x="4334255" y="2148839"/>
            <a:ext cx="3657601" cy="2788922"/>
          </a:xfrm>
          <a:prstGeom prst="roundRect">
            <a:avLst>
              <a:gd name="adj" fmla="val 26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Shape 12"/>
          <p:cNvSpPr/>
          <p:nvPr/>
        </p:nvSpPr>
        <p:spPr>
          <a:xfrm>
            <a:off x="4608576" y="2377439"/>
            <a:ext cx="457201" cy="45720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3"/>
          <p:cNvSpPr txBox="1"/>
          <p:nvPr/>
        </p:nvSpPr>
        <p:spPr>
          <a:xfrm>
            <a:off x="4654296" y="2446019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1" name="Text 14"/>
          <p:cNvSpPr txBox="1"/>
          <p:nvPr/>
        </p:nvSpPr>
        <p:spPr>
          <a:xfrm>
            <a:off x="5248655" y="2470657"/>
            <a:ext cx="2514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cmagent</a:t>
            </a:r>
          </a:p>
        </p:txBody>
      </p:sp>
      <p:sp>
        <p:nvSpPr>
          <p:cNvPr id="52" name="Text 15"/>
          <p:cNvSpPr txBox="1"/>
          <p:nvPr/>
        </p:nvSpPr>
        <p:spPr>
          <a:xfrm>
            <a:off x="4654296" y="2949702"/>
            <a:ext cx="301752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형상관리 통합 Proxy</a:t>
            </a:r>
          </a:p>
        </p:txBody>
      </p:sp>
      <p:sp>
        <p:nvSpPr>
          <p:cNvPr id="53" name="Text 16"/>
          <p:cNvSpPr txBox="1"/>
          <p:nvPr/>
        </p:nvSpPr>
        <p:spPr>
          <a:xfrm>
            <a:off x="4654296" y="3310128"/>
            <a:ext cx="301752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기술스택  </a:t>
            </a:r>
            <a:r>
              <a:rPr b="0">
                <a:solidFill>
                  <a:srgbClr val="1F1F1F"/>
                </a:solidFill>
              </a:rPr>
              <a:t>Spring Boot 3 · Java 21</a:t>
            </a:r>
          </a:p>
        </p:txBody>
      </p:sp>
      <p:sp>
        <p:nvSpPr>
          <p:cNvPr id="54" name="Text 17"/>
          <p:cNvSpPr txBox="1"/>
          <p:nvPr/>
        </p:nvSpPr>
        <p:spPr>
          <a:xfrm>
            <a:off x="4654296" y="3803903"/>
            <a:ext cx="3017521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7999"/>
              </a:lnSpc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기능  </a:t>
            </a:r>
            <a:r>
              <a:rPr b="0">
                <a:solidFill>
                  <a:srgbClr val="1F1F1F"/>
                </a:solidFill>
              </a:rPr>
              <a:t>Jira · SVN · Jenkins · Rundeck을 단일 API로 통합. Release Diff · Change Program 이슈 관리 · Agent 프록시 담당.</a:t>
            </a:r>
          </a:p>
        </p:txBody>
      </p:sp>
      <p:sp>
        <p:nvSpPr>
          <p:cNvPr id="55" name="Shape 18"/>
          <p:cNvSpPr/>
          <p:nvPr/>
        </p:nvSpPr>
        <p:spPr>
          <a:xfrm>
            <a:off x="8165592" y="2148839"/>
            <a:ext cx="3657601" cy="2788922"/>
          </a:xfrm>
          <a:prstGeom prst="roundRect">
            <a:avLst>
              <a:gd name="adj" fmla="val 26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" name="Shape 19"/>
          <p:cNvSpPr/>
          <p:nvPr/>
        </p:nvSpPr>
        <p:spPr>
          <a:xfrm>
            <a:off x="8439911" y="2377439"/>
            <a:ext cx="457201" cy="45720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20"/>
          <p:cNvSpPr txBox="1"/>
          <p:nvPr/>
        </p:nvSpPr>
        <p:spPr>
          <a:xfrm>
            <a:off x="8485631" y="2446019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" name="Text 21"/>
          <p:cNvSpPr txBox="1"/>
          <p:nvPr/>
        </p:nvSpPr>
        <p:spPr>
          <a:xfrm>
            <a:off x="9079991" y="2470657"/>
            <a:ext cx="25146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source-analysis-agent</a:t>
            </a:r>
          </a:p>
        </p:txBody>
      </p:sp>
      <p:sp>
        <p:nvSpPr>
          <p:cNvPr id="59" name="Text 22"/>
          <p:cNvSpPr txBox="1"/>
          <p:nvPr/>
        </p:nvSpPr>
        <p:spPr>
          <a:xfrm>
            <a:off x="8485631" y="2949702"/>
            <a:ext cx="301752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AI 영향도 분석</a:t>
            </a:r>
          </a:p>
        </p:txBody>
      </p:sp>
      <p:sp>
        <p:nvSpPr>
          <p:cNvPr id="60" name="Text 23"/>
          <p:cNvSpPr txBox="1"/>
          <p:nvPr/>
        </p:nvSpPr>
        <p:spPr>
          <a:xfrm>
            <a:off x="8485631" y="3310128"/>
            <a:ext cx="301752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0000"/>
              </a:lnSpc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기술스택  </a:t>
            </a:r>
            <a:r>
              <a:rPr b="0">
                <a:solidFill>
                  <a:srgbClr val="1F1F1F"/>
                </a:solidFill>
              </a:rPr>
              <a:t>Python · FastAPI · LangGraph</a:t>
            </a:r>
          </a:p>
        </p:txBody>
      </p:sp>
      <p:sp>
        <p:nvSpPr>
          <p:cNvPr id="61" name="Text 24"/>
          <p:cNvSpPr txBox="1"/>
          <p:nvPr/>
        </p:nvSpPr>
        <p:spPr>
          <a:xfrm>
            <a:off x="8485631" y="3803903"/>
            <a:ext cx="3017521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7999"/>
              </a:lnSpc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기능  </a:t>
            </a:r>
            <a:r>
              <a:rPr b="0">
                <a:solidFill>
                  <a:srgbClr val="1F1F1F"/>
                </a:solidFill>
              </a:rPr>
              <a:t>사내 Codi LLM과 S-GOV 자산 연관관계 DB </a:t>
            </a:r>
            <a:r>
              <a:rPr b="0">
                <a:solidFill>
                  <a:srgbClr val="1F1F1F"/>
                </a:solidFill>
              </a:rPr>
              <a:t>·</a:t>
            </a:r>
            <a:r>
              <a:t> </a:t>
            </a:r>
            <a:r>
              <a:rPr b="0">
                <a:solidFill>
                  <a:srgbClr val="1F1F1F"/>
                </a:solidFill>
              </a:rPr>
              <a:t>cmagent </a:t>
            </a:r>
            <a:r>
              <a:rPr b="0">
                <a:solidFill>
                  <a:srgbClr val="1F1F1F"/>
                </a:solidFill>
              </a:rPr>
              <a:t>API tool-calling으로 위험도 · 회귀 범위 · 릴리스 노트를 자동 생성.</a:t>
            </a:r>
          </a:p>
        </p:txBody>
      </p:sp>
      <p:sp>
        <p:nvSpPr>
          <p:cNvPr id="62" name="Text 25"/>
          <p:cNvSpPr txBox="1"/>
          <p:nvPr/>
        </p:nvSpPr>
        <p:spPr>
          <a:xfrm>
            <a:off x="548639" y="5135118"/>
            <a:ext cx="356616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한눈에 보는 구성</a:t>
            </a:r>
          </a:p>
        </p:txBody>
      </p:sp>
      <p:sp>
        <p:nvSpPr>
          <p:cNvPr id="63" name="Shape 26"/>
          <p:cNvSpPr/>
          <p:nvPr/>
        </p:nvSpPr>
        <p:spPr>
          <a:xfrm>
            <a:off x="502919" y="5449823"/>
            <a:ext cx="11183113" cy="658369"/>
          </a:xfrm>
          <a:prstGeom prst="roundRect">
            <a:avLst>
              <a:gd name="adj" fmla="val 11111"/>
            </a:avLst>
          </a:prstGeom>
          <a:solidFill>
            <a:srgbClr val="ECEFF3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27"/>
          <p:cNvSpPr txBox="1"/>
          <p:nvPr/>
        </p:nvSpPr>
        <p:spPr>
          <a:xfrm>
            <a:off x="777239" y="5645847"/>
            <a:ext cx="10698482" cy="266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데이터 소스  </a:t>
            </a:r>
            <a:r>
              <a:rPr b="0">
                <a:solidFill>
                  <a:srgbClr val="1F1F1F"/>
                </a:solidFill>
              </a:rPr>
              <a:t>Jira · SVN · Jenkins · Rundeck · S-GOV DB      </a:t>
            </a:r>
            <a:r>
              <a:t>AI 엔진  </a:t>
            </a:r>
            <a:r>
              <a:rPr b="0">
                <a:solidFill>
                  <a:srgbClr val="1F1F1F"/>
                </a:solidFill>
              </a:rPr>
              <a:t>KT Codi LLM · LangGraph tool-calling      </a:t>
            </a:r>
            <a:r>
              <a:t>배포  </a:t>
            </a:r>
            <a:r>
              <a:rPr b="0">
                <a:solidFill>
                  <a:srgbClr val="1F1F1F"/>
                </a:solidFill>
              </a:rPr>
              <a:t>KOS-형상관리</a:t>
            </a:r>
            <a:r>
              <a:rPr b="0">
                <a:solidFill>
                  <a:srgbClr val="1F1F1F"/>
                </a:solidFill>
              </a:rPr>
              <a:t> · S-GOV</a:t>
            </a:r>
            <a:r>
              <a:rPr b="0">
                <a:solidFill>
                  <a:srgbClr val="1F1F1F"/>
                </a:solidFill>
              </a:rPr>
              <a:t> 서버</a:t>
            </a:r>
          </a:p>
        </p:txBody>
      </p:sp>
      <p:sp>
        <p:nvSpPr>
          <p:cNvPr id="65" name="Text 28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AS-IS</a:t>
            </a:r>
          </a:p>
        </p:txBody>
      </p:sp>
      <p:sp>
        <p:nvSpPr>
          <p:cNvPr id="69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AS-IS — 수동 영향도 점검의 한계</a:t>
            </a:r>
          </a:p>
        </p:txBody>
      </p:sp>
      <p:sp>
        <p:nvSpPr>
          <p:cNvPr id="70" name="Text 3"/>
          <p:cNvSpPr txBox="1"/>
          <p:nvPr/>
        </p:nvSpPr>
        <p:spPr>
          <a:xfrm>
            <a:off x="548639" y="1235852"/>
            <a:ext cx="11155682" cy="582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현재 업무팀은 배포 시마다 개발자가 개별적으로 SVN·Jira를 오가며 소스 변경 영향도를 </a:t>
            </a:r>
            <a:r>
              <a:rPr b="1">
                <a:solidFill>
                  <a:srgbClr val="C00000"/>
                </a:solidFill>
              </a:rPr>
              <a:t>수기로 점검</a:t>
            </a:r>
            <a:r>
              <a:t>하고 있어, 담당자 의존도가 높고 통합 위험도 판단이 어렵습니다.</a:t>
            </a:r>
          </a:p>
        </p:txBody>
      </p:sp>
      <p:sp>
        <p:nvSpPr>
          <p:cNvPr id="71" name="Shape 4"/>
          <p:cNvSpPr/>
          <p:nvPr/>
        </p:nvSpPr>
        <p:spPr>
          <a:xfrm>
            <a:off x="554735" y="2044057"/>
            <a:ext cx="2084833" cy="709378"/>
          </a:xfrm>
          <a:prstGeom prst="roundRect">
            <a:avLst>
              <a:gd name="adj" fmla="val 90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5"/>
          <p:cNvSpPr/>
          <p:nvPr/>
        </p:nvSpPr>
        <p:spPr>
          <a:xfrm>
            <a:off x="682751" y="2153785"/>
            <a:ext cx="365761" cy="36576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6"/>
          <p:cNvSpPr txBox="1"/>
          <p:nvPr/>
        </p:nvSpPr>
        <p:spPr>
          <a:xfrm>
            <a:off x="728471" y="2189345"/>
            <a:ext cx="274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" name="Text 7"/>
          <p:cNvSpPr txBox="1"/>
          <p:nvPr/>
        </p:nvSpPr>
        <p:spPr>
          <a:xfrm>
            <a:off x="701041" y="2137686"/>
            <a:ext cx="1810512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개발자별 SVN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show log 수동 점검</a:t>
            </a:r>
          </a:p>
        </p:txBody>
      </p:sp>
      <p:sp>
        <p:nvSpPr>
          <p:cNvPr id="75" name="Shape 8"/>
          <p:cNvSpPr/>
          <p:nvPr/>
        </p:nvSpPr>
        <p:spPr>
          <a:xfrm>
            <a:off x="2657856" y="2398746"/>
            <a:ext cx="146305" cy="1"/>
          </a:xfrm>
          <a:prstGeom prst="line">
            <a:avLst/>
          </a:prstGeom>
          <a:ln w="190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9"/>
          <p:cNvSpPr/>
          <p:nvPr/>
        </p:nvSpPr>
        <p:spPr>
          <a:xfrm>
            <a:off x="2804159" y="2044057"/>
            <a:ext cx="2084833" cy="709378"/>
          </a:xfrm>
          <a:prstGeom prst="roundRect">
            <a:avLst>
              <a:gd name="adj" fmla="val 90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10"/>
          <p:cNvSpPr/>
          <p:nvPr/>
        </p:nvSpPr>
        <p:spPr>
          <a:xfrm>
            <a:off x="2932175" y="2153785"/>
            <a:ext cx="365761" cy="36576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Text 11"/>
          <p:cNvSpPr txBox="1"/>
          <p:nvPr/>
        </p:nvSpPr>
        <p:spPr>
          <a:xfrm>
            <a:off x="2977895" y="2189345"/>
            <a:ext cx="274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9" name="Text 12"/>
          <p:cNvSpPr txBox="1"/>
          <p:nvPr/>
        </p:nvSpPr>
        <p:spPr>
          <a:xfrm>
            <a:off x="2950464" y="2137686"/>
            <a:ext cx="1810512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Jira 쿼리로 CP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소스목록 엑셀 추출</a:t>
            </a:r>
          </a:p>
        </p:txBody>
      </p:sp>
      <p:sp>
        <p:nvSpPr>
          <p:cNvPr id="80" name="Shape 13"/>
          <p:cNvSpPr/>
          <p:nvPr/>
        </p:nvSpPr>
        <p:spPr>
          <a:xfrm>
            <a:off x="4898135" y="2398746"/>
            <a:ext cx="146305" cy="1"/>
          </a:xfrm>
          <a:prstGeom prst="line">
            <a:avLst/>
          </a:prstGeom>
          <a:ln w="190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14"/>
          <p:cNvSpPr/>
          <p:nvPr/>
        </p:nvSpPr>
        <p:spPr>
          <a:xfrm>
            <a:off x="5053583" y="2044057"/>
            <a:ext cx="2084833" cy="709378"/>
          </a:xfrm>
          <a:prstGeom prst="roundRect">
            <a:avLst>
              <a:gd name="adj" fmla="val 90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15"/>
          <p:cNvSpPr/>
          <p:nvPr/>
        </p:nvSpPr>
        <p:spPr>
          <a:xfrm>
            <a:off x="5181600" y="2153785"/>
            <a:ext cx="365761" cy="36576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6"/>
          <p:cNvSpPr txBox="1"/>
          <p:nvPr/>
        </p:nvSpPr>
        <p:spPr>
          <a:xfrm>
            <a:off x="5227320" y="2189345"/>
            <a:ext cx="274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4" name="Text 17"/>
          <p:cNvSpPr txBox="1"/>
          <p:nvPr/>
        </p:nvSpPr>
        <p:spPr>
          <a:xfrm>
            <a:off x="5236464" y="2137686"/>
            <a:ext cx="1810512" cy="431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CheckItem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(물량 배포) 진행</a:t>
            </a:r>
          </a:p>
        </p:txBody>
      </p:sp>
      <p:sp>
        <p:nvSpPr>
          <p:cNvPr id="85" name="Shape 18"/>
          <p:cNvSpPr/>
          <p:nvPr/>
        </p:nvSpPr>
        <p:spPr>
          <a:xfrm>
            <a:off x="7147559" y="2413889"/>
            <a:ext cx="146305" cy="1"/>
          </a:xfrm>
          <a:prstGeom prst="line">
            <a:avLst/>
          </a:prstGeom>
          <a:ln w="190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19"/>
          <p:cNvSpPr/>
          <p:nvPr/>
        </p:nvSpPr>
        <p:spPr>
          <a:xfrm>
            <a:off x="7303008" y="2044057"/>
            <a:ext cx="2084833" cy="709378"/>
          </a:xfrm>
          <a:prstGeom prst="roundRect">
            <a:avLst>
              <a:gd name="adj" fmla="val 90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20"/>
          <p:cNvSpPr/>
          <p:nvPr/>
        </p:nvSpPr>
        <p:spPr>
          <a:xfrm>
            <a:off x="7431023" y="2153785"/>
            <a:ext cx="365761" cy="36576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1"/>
          <p:cNvSpPr txBox="1"/>
          <p:nvPr/>
        </p:nvSpPr>
        <p:spPr>
          <a:xfrm>
            <a:off x="7476743" y="2189345"/>
            <a:ext cx="274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9" name="Text 22"/>
          <p:cNvSpPr txBox="1"/>
          <p:nvPr/>
        </p:nvSpPr>
        <p:spPr>
          <a:xfrm>
            <a:off x="7476742" y="2147183"/>
            <a:ext cx="1810512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PMO가 엑셀로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개발·운영팀 공유</a:t>
            </a:r>
          </a:p>
        </p:txBody>
      </p:sp>
      <p:sp>
        <p:nvSpPr>
          <p:cNvPr id="90" name="Shape 23"/>
          <p:cNvSpPr/>
          <p:nvPr/>
        </p:nvSpPr>
        <p:spPr>
          <a:xfrm>
            <a:off x="9410699" y="2413889"/>
            <a:ext cx="146305" cy="1"/>
          </a:xfrm>
          <a:prstGeom prst="line">
            <a:avLst/>
          </a:prstGeom>
          <a:ln w="190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24"/>
          <p:cNvSpPr/>
          <p:nvPr/>
        </p:nvSpPr>
        <p:spPr>
          <a:xfrm>
            <a:off x="9552432" y="2044057"/>
            <a:ext cx="2084833" cy="709378"/>
          </a:xfrm>
          <a:prstGeom prst="roundRect">
            <a:avLst>
              <a:gd name="adj" fmla="val 902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hape 25"/>
          <p:cNvSpPr/>
          <p:nvPr/>
        </p:nvSpPr>
        <p:spPr>
          <a:xfrm>
            <a:off x="9680447" y="2153785"/>
            <a:ext cx="365761" cy="36576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26"/>
          <p:cNvSpPr txBox="1"/>
          <p:nvPr/>
        </p:nvSpPr>
        <p:spPr>
          <a:xfrm>
            <a:off x="9726167" y="2189345"/>
            <a:ext cx="2743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4" name="Text 27"/>
          <p:cNvSpPr txBox="1"/>
          <p:nvPr/>
        </p:nvSpPr>
        <p:spPr>
          <a:xfrm>
            <a:off x="9689592" y="2146227"/>
            <a:ext cx="1810512" cy="4412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개발자 개별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최종 점검</a:t>
            </a:r>
          </a:p>
        </p:txBody>
      </p:sp>
      <p:sp>
        <p:nvSpPr>
          <p:cNvPr id="95" name="Text 28"/>
          <p:cNvSpPr txBox="1"/>
          <p:nvPr/>
        </p:nvSpPr>
        <p:spPr>
          <a:xfrm>
            <a:off x="548639" y="3118229"/>
            <a:ext cx="448056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핵심 문제점</a:t>
            </a:r>
          </a:p>
        </p:txBody>
      </p:sp>
      <p:sp>
        <p:nvSpPr>
          <p:cNvPr id="96" name="Shape 29"/>
          <p:cNvSpPr/>
          <p:nvPr/>
        </p:nvSpPr>
        <p:spPr>
          <a:xfrm>
            <a:off x="502919" y="3474720"/>
            <a:ext cx="5394961" cy="1097281"/>
          </a:xfrm>
          <a:prstGeom prst="roundRect">
            <a:avLst>
              <a:gd name="adj" fmla="val 583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30"/>
          <p:cNvSpPr txBox="1"/>
          <p:nvPr/>
        </p:nvSpPr>
        <p:spPr>
          <a:xfrm>
            <a:off x="694943" y="3593083"/>
            <a:ext cx="3108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98" name="Text 31"/>
          <p:cNvSpPr txBox="1"/>
          <p:nvPr/>
        </p:nvSpPr>
        <p:spPr>
          <a:xfrm>
            <a:off x="1207008" y="3623371"/>
            <a:ext cx="4480560" cy="30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수동·산발적 점검</a:t>
            </a:r>
          </a:p>
        </p:txBody>
      </p:sp>
      <p:sp>
        <p:nvSpPr>
          <p:cNvPr id="99" name="Text 32"/>
          <p:cNvSpPr txBox="1"/>
          <p:nvPr/>
        </p:nvSpPr>
        <p:spPr>
          <a:xfrm>
            <a:off x="1207008" y="3993433"/>
            <a:ext cx="4526280" cy="462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개발자별 SVN show log에 의존하여 담당자 부재 시 변경 이력 확인이 어렵고, 점검 품질이 사람마다 제각각입니다.</a:t>
            </a:r>
          </a:p>
        </p:txBody>
      </p:sp>
      <p:sp>
        <p:nvSpPr>
          <p:cNvPr id="100" name="Shape 33"/>
          <p:cNvSpPr/>
          <p:nvPr/>
        </p:nvSpPr>
        <p:spPr>
          <a:xfrm>
            <a:off x="6126479" y="3474720"/>
            <a:ext cx="5394961" cy="1097281"/>
          </a:xfrm>
          <a:prstGeom prst="roundRect">
            <a:avLst>
              <a:gd name="adj" fmla="val 583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34"/>
          <p:cNvSpPr txBox="1"/>
          <p:nvPr/>
        </p:nvSpPr>
        <p:spPr>
          <a:xfrm>
            <a:off x="6318504" y="3593083"/>
            <a:ext cx="3108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102" name="Text 35"/>
          <p:cNvSpPr txBox="1"/>
          <p:nvPr/>
        </p:nvSpPr>
        <p:spPr>
          <a:xfrm>
            <a:off x="6830567" y="3623371"/>
            <a:ext cx="4480561" cy="30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통합 가시성 부재</a:t>
            </a:r>
          </a:p>
        </p:txBody>
      </p:sp>
      <p:sp>
        <p:nvSpPr>
          <p:cNvPr id="103" name="Text 36"/>
          <p:cNvSpPr txBox="1"/>
          <p:nvPr/>
        </p:nvSpPr>
        <p:spPr>
          <a:xfrm>
            <a:off x="6830567" y="3993433"/>
            <a:ext cx="4526281" cy="462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Jira Release 화면에는 티켓 목록만 표시되어, 어떤 소스가 어떻게 바뀌었는지 세부 변경 영향도를 파악하기 어렵습니다.</a:t>
            </a:r>
          </a:p>
        </p:txBody>
      </p:sp>
      <p:sp>
        <p:nvSpPr>
          <p:cNvPr id="104" name="Shape 37"/>
          <p:cNvSpPr/>
          <p:nvPr/>
        </p:nvSpPr>
        <p:spPr>
          <a:xfrm>
            <a:off x="502919" y="4709159"/>
            <a:ext cx="5394961" cy="1097281"/>
          </a:xfrm>
          <a:prstGeom prst="roundRect">
            <a:avLst>
              <a:gd name="adj" fmla="val 583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38"/>
          <p:cNvSpPr txBox="1"/>
          <p:nvPr/>
        </p:nvSpPr>
        <p:spPr>
          <a:xfrm>
            <a:off x="694943" y="4827524"/>
            <a:ext cx="3108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106" name="Text 39"/>
          <p:cNvSpPr txBox="1"/>
          <p:nvPr/>
        </p:nvSpPr>
        <p:spPr>
          <a:xfrm>
            <a:off x="1207008" y="4857811"/>
            <a:ext cx="4480560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영향도 산재</a:t>
            </a:r>
          </a:p>
        </p:txBody>
      </p:sp>
      <p:sp>
        <p:nvSpPr>
          <p:cNvPr id="107" name="Text 40"/>
          <p:cNvSpPr txBox="1"/>
          <p:nvPr/>
        </p:nvSpPr>
        <p:spPr>
          <a:xfrm>
            <a:off x="1207008" y="5227873"/>
            <a:ext cx="4526280" cy="462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티켓별 커밋 내역이 여러 곳에 흩어져 있어, 릴리스 단위의 통합 변경 소스 영향도를 한눈에 파악할 수 없습니다.</a:t>
            </a:r>
          </a:p>
        </p:txBody>
      </p:sp>
      <p:sp>
        <p:nvSpPr>
          <p:cNvPr id="108" name="Shape 41"/>
          <p:cNvSpPr/>
          <p:nvPr/>
        </p:nvSpPr>
        <p:spPr>
          <a:xfrm>
            <a:off x="6126479" y="4709159"/>
            <a:ext cx="5394961" cy="1097281"/>
          </a:xfrm>
          <a:prstGeom prst="roundRect">
            <a:avLst>
              <a:gd name="adj" fmla="val 583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42"/>
          <p:cNvSpPr txBox="1"/>
          <p:nvPr/>
        </p:nvSpPr>
        <p:spPr>
          <a:xfrm>
            <a:off x="6318504" y="4827524"/>
            <a:ext cx="31089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!</a:t>
            </a:r>
          </a:p>
        </p:txBody>
      </p:sp>
      <p:sp>
        <p:nvSpPr>
          <p:cNvPr id="110" name="Text 43"/>
          <p:cNvSpPr txBox="1"/>
          <p:nvPr/>
        </p:nvSpPr>
        <p:spPr>
          <a:xfrm>
            <a:off x="6830567" y="4857811"/>
            <a:ext cx="4480561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위험도 평가 부재</a:t>
            </a:r>
          </a:p>
        </p:txBody>
      </p:sp>
      <p:sp>
        <p:nvSpPr>
          <p:cNvPr id="111" name="Text 44"/>
          <p:cNvSpPr txBox="1"/>
          <p:nvPr/>
        </p:nvSpPr>
        <p:spPr>
          <a:xfrm>
            <a:off x="6830567" y="5227873"/>
            <a:ext cx="4526281" cy="462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2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전에 위험도를 정량적으로 평가할 표준 기준·근거가 없어, 배포 안정성이 담당자 경험에 좌우됩니다.</a:t>
            </a:r>
          </a:p>
        </p:txBody>
      </p:sp>
      <p:sp>
        <p:nvSpPr>
          <p:cNvPr id="112" name="Text 45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TO-BE</a:t>
            </a:r>
          </a:p>
        </p:txBody>
      </p:sp>
      <p:sp>
        <p:nvSpPr>
          <p:cNvPr id="116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TO-BE — 통합 가시성 확보로 전환</a:t>
            </a:r>
          </a:p>
        </p:txBody>
      </p:sp>
      <p:sp>
        <p:nvSpPr>
          <p:cNvPr id="117" name="Text 3"/>
          <p:cNvSpPr txBox="1"/>
          <p:nvPr/>
        </p:nvSpPr>
        <p:spPr>
          <a:xfrm>
            <a:off x="548639" y="1367153"/>
            <a:ext cx="11155682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수동 검증(AS-IS)에서 </a:t>
            </a:r>
            <a:r>
              <a:rPr b="1">
                <a:solidFill>
                  <a:srgbClr val="C00000"/>
                </a:solidFill>
              </a:rPr>
              <a:t>SVN·S-GOV 연계 기반의 통합 배포 영향도 분석(TO-BE)</a:t>
            </a:r>
            <a:r>
              <a:t>으로 전환하여, 릴리스 기준으로 변경·위험도를 자동 산출합니다.</a:t>
            </a:r>
          </a:p>
        </p:txBody>
      </p:sp>
      <p:sp>
        <p:nvSpPr>
          <p:cNvPr id="118" name="Shape 4"/>
          <p:cNvSpPr/>
          <p:nvPr/>
        </p:nvSpPr>
        <p:spPr>
          <a:xfrm>
            <a:off x="502919" y="1874520"/>
            <a:ext cx="5074922" cy="1234441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5"/>
          <p:cNvSpPr txBox="1"/>
          <p:nvPr/>
        </p:nvSpPr>
        <p:spPr>
          <a:xfrm>
            <a:off x="777239" y="2023363"/>
            <a:ext cx="1737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AS-IS</a:t>
            </a:r>
          </a:p>
        </p:txBody>
      </p:sp>
      <p:sp>
        <p:nvSpPr>
          <p:cNvPr id="120" name="Text 6"/>
          <p:cNvSpPr txBox="1"/>
          <p:nvPr/>
        </p:nvSpPr>
        <p:spPr>
          <a:xfrm>
            <a:off x="777239" y="2544379"/>
            <a:ext cx="4572001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개발자별 수동 SVN 점검 · 엑셀 취합 · 위험도 정성 판단에 의존</a:t>
            </a:r>
          </a:p>
        </p:txBody>
      </p:sp>
      <p:sp>
        <p:nvSpPr>
          <p:cNvPr id="121" name="Shape 7"/>
          <p:cNvSpPr/>
          <p:nvPr/>
        </p:nvSpPr>
        <p:spPr>
          <a:xfrm>
            <a:off x="5669279" y="2487167"/>
            <a:ext cx="777241" cy="1"/>
          </a:xfrm>
          <a:prstGeom prst="line">
            <a:avLst/>
          </a:prstGeom>
          <a:ln w="317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8"/>
          <p:cNvSpPr/>
          <p:nvPr/>
        </p:nvSpPr>
        <p:spPr>
          <a:xfrm>
            <a:off x="6583680" y="1874520"/>
            <a:ext cx="5102353" cy="1234441"/>
          </a:xfrm>
          <a:prstGeom prst="roundRect">
            <a:avLst>
              <a:gd name="adj" fmla="val 5926"/>
            </a:avLst>
          </a:prstGeom>
          <a:solidFill>
            <a:srgbClr val="E8ECF1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Text 9"/>
          <p:cNvSpPr txBox="1"/>
          <p:nvPr/>
        </p:nvSpPr>
        <p:spPr>
          <a:xfrm>
            <a:off x="6858000" y="2023363"/>
            <a:ext cx="1737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TO-BE</a:t>
            </a:r>
          </a:p>
        </p:txBody>
      </p:sp>
      <p:sp>
        <p:nvSpPr>
          <p:cNvPr id="124" name="Text 10"/>
          <p:cNvSpPr txBox="1"/>
          <p:nvPr/>
        </p:nvSpPr>
        <p:spPr>
          <a:xfrm>
            <a:off x="6858000" y="2426672"/>
            <a:ext cx="4617721" cy="541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릴리스 기준 자동 Diff 수집 · S-GOV 호출관계 분석 · LLM 위험도 정량화</a:t>
            </a:r>
          </a:p>
        </p:txBody>
      </p:sp>
      <p:sp>
        <p:nvSpPr>
          <p:cNvPr id="125" name="Text 11"/>
          <p:cNvSpPr txBox="1"/>
          <p:nvPr/>
        </p:nvSpPr>
        <p:spPr>
          <a:xfrm>
            <a:off x="548639" y="3328541"/>
            <a:ext cx="539496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TO-BE 핵심 기능 3종</a:t>
            </a:r>
          </a:p>
        </p:txBody>
      </p:sp>
      <p:sp>
        <p:nvSpPr>
          <p:cNvPr id="126" name="Shape 12"/>
          <p:cNvSpPr/>
          <p:nvPr/>
        </p:nvSpPr>
        <p:spPr>
          <a:xfrm>
            <a:off x="502919" y="3730752"/>
            <a:ext cx="3657601" cy="2148841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Shape 13"/>
          <p:cNvSpPr/>
          <p:nvPr/>
        </p:nvSpPr>
        <p:spPr>
          <a:xfrm>
            <a:off x="777240" y="3950208"/>
            <a:ext cx="457201" cy="45720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14"/>
          <p:cNvSpPr txBox="1"/>
          <p:nvPr/>
        </p:nvSpPr>
        <p:spPr>
          <a:xfrm>
            <a:off x="822960" y="4018788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9" name="Text 15"/>
          <p:cNvSpPr txBox="1"/>
          <p:nvPr/>
        </p:nvSpPr>
        <p:spPr>
          <a:xfrm>
            <a:off x="1417319" y="4018913"/>
            <a:ext cx="251460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SVN · Jira 통합 소스 조회</a:t>
            </a:r>
          </a:p>
        </p:txBody>
      </p:sp>
      <p:sp>
        <p:nvSpPr>
          <p:cNvPr id="130" name="Text 16"/>
          <p:cNvSpPr txBox="1"/>
          <p:nvPr/>
        </p:nvSpPr>
        <p:spPr>
          <a:xfrm>
            <a:off x="822959" y="4796789"/>
            <a:ext cx="3017522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Change Program 이슈에 커밋된 SVN 소스 변경 이력을 한 화면에서 통합 조회하고, AI로 영향도를 분석합니다.</a:t>
            </a:r>
          </a:p>
        </p:txBody>
      </p:sp>
      <p:sp>
        <p:nvSpPr>
          <p:cNvPr id="131" name="Shape 17"/>
          <p:cNvSpPr/>
          <p:nvPr/>
        </p:nvSpPr>
        <p:spPr>
          <a:xfrm>
            <a:off x="4334255" y="3730752"/>
            <a:ext cx="3657601" cy="2148841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Shape 18"/>
          <p:cNvSpPr/>
          <p:nvPr/>
        </p:nvSpPr>
        <p:spPr>
          <a:xfrm>
            <a:off x="4608576" y="3950208"/>
            <a:ext cx="457201" cy="45720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9"/>
          <p:cNvSpPr txBox="1"/>
          <p:nvPr/>
        </p:nvSpPr>
        <p:spPr>
          <a:xfrm>
            <a:off x="4654296" y="4018788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4" name="Text 20"/>
          <p:cNvSpPr txBox="1"/>
          <p:nvPr/>
        </p:nvSpPr>
        <p:spPr>
          <a:xfrm>
            <a:off x="5248655" y="4018913"/>
            <a:ext cx="251460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Release 자동 비교 · 추출</a:t>
            </a:r>
          </a:p>
        </p:txBody>
      </p:sp>
      <p:sp>
        <p:nvSpPr>
          <p:cNvPr id="135" name="Text 21"/>
          <p:cNvSpPr txBox="1"/>
          <p:nvPr/>
        </p:nvSpPr>
        <p:spPr>
          <a:xfrm>
            <a:off x="4654296" y="4911089"/>
            <a:ext cx="301752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릴리스 버전 기준으로 포함된 CP 이슈와 소스 변경 내역을 수작업 없이 자동 수집·비교합니다.</a:t>
            </a:r>
          </a:p>
        </p:txBody>
      </p:sp>
      <p:sp>
        <p:nvSpPr>
          <p:cNvPr id="136" name="Shape 22"/>
          <p:cNvSpPr/>
          <p:nvPr/>
        </p:nvSpPr>
        <p:spPr>
          <a:xfrm>
            <a:off x="8165592" y="3730752"/>
            <a:ext cx="3657601" cy="2148841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Shape 23"/>
          <p:cNvSpPr/>
          <p:nvPr/>
        </p:nvSpPr>
        <p:spPr>
          <a:xfrm>
            <a:off x="8439911" y="3950208"/>
            <a:ext cx="457201" cy="457201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24"/>
          <p:cNvSpPr txBox="1"/>
          <p:nvPr/>
        </p:nvSpPr>
        <p:spPr>
          <a:xfrm>
            <a:off x="8485631" y="4018788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9" name="Text 25"/>
          <p:cNvSpPr txBox="1"/>
          <p:nvPr/>
        </p:nvSpPr>
        <p:spPr>
          <a:xfrm>
            <a:off x="9079991" y="4018913"/>
            <a:ext cx="251460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LLM AI 영향도 분석</a:t>
            </a:r>
          </a:p>
        </p:txBody>
      </p:sp>
      <p:sp>
        <p:nvSpPr>
          <p:cNvPr id="140" name="Text 26"/>
          <p:cNvSpPr txBox="1"/>
          <p:nvPr/>
        </p:nvSpPr>
        <p:spPr>
          <a:xfrm>
            <a:off x="8485631" y="4911089"/>
            <a:ext cx="301752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Source Diff 리포트 · 심층 위험도 · 회귀 범위 · 릴리스 노트를 LLM 기반으로 자동 생성합니다.</a:t>
            </a:r>
          </a:p>
        </p:txBody>
      </p:sp>
      <p:sp>
        <p:nvSpPr>
          <p:cNvPr id="141" name="Text 27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45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시스템 아키텍처</a:t>
            </a:r>
          </a:p>
        </p:txBody>
      </p:sp>
      <p:sp>
        <p:nvSpPr>
          <p:cNvPr id="146" name="Text 3"/>
          <p:cNvSpPr txBox="1"/>
          <p:nvPr/>
        </p:nvSpPr>
        <p:spPr>
          <a:xfrm>
            <a:off x="574802" y="1498966"/>
            <a:ext cx="2493399" cy="1084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Frontend → cmagent(형상관리 Proxy) → 외부 시스템, 그리고 AI Agent → S-GOV / LLM 으로 이어지는 2계층 분석 파이프라인으로 구성됩니다.</a:t>
            </a:r>
          </a:p>
        </p:txBody>
      </p:sp>
      <p:sp>
        <p:nvSpPr>
          <p:cNvPr id="147" name="Text 38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  <p:pic>
        <p:nvPicPr>
          <p:cNvPr id="148" name="diagram.png" descr="diagr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72274" y="331151"/>
            <a:ext cx="8672154" cy="6387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FOR DEVELOPERS</a:t>
            </a:r>
          </a:p>
        </p:txBody>
      </p:sp>
      <p:sp>
        <p:nvSpPr>
          <p:cNvPr id="152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핵심 기능 ① 개발자를 위한 기능</a:t>
            </a:r>
          </a:p>
        </p:txBody>
      </p:sp>
      <p:sp>
        <p:nvSpPr>
          <p:cNvPr id="153" name="Text 3"/>
          <p:cNvSpPr txBox="1"/>
          <p:nvPr/>
        </p:nvSpPr>
        <p:spPr>
          <a:xfrm>
            <a:off x="548639" y="1344293"/>
            <a:ext cx="11155682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2000"/>
              </a:lnSpc>
              <a:defRPr sz="14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변경 소스를 SVN·Jira 오가며 확인하던 작업을, </a:t>
            </a:r>
            <a:r>
              <a:rPr b="1">
                <a:solidFill>
                  <a:srgbClr val="C00000"/>
                </a:solidFill>
              </a:rPr>
              <a:t>소스 변경 이력 조회 + AI 영향도 분석</a:t>
            </a:r>
            <a:r>
              <a:t>으로 한 화면에 통합했습니다.</a:t>
            </a:r>
          </a:p>
        </p:txBody>
      </p:sp>
      <p:sp>
        <p:nvSpPr>
          <p:cNvPr id="154" name="Shape 4"/>
          <p:cNvSpPr/>
          <p:nvPr/>
        </p:nvSpPr>
        <p:spPr>
          <a:xfrm>
            <a:off x="502919" y="1828800"/>
            <a:ext cx="11183113" cy="2011680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Shape 5"/>
          <p:cNvSpPr/>
          <p:nvPr/>
        </p:nvSpPr>
        <p:spPr>
          <a:xfrm>
            <a:off x="822960" y="2487167"/>
            <a:ext cx="475489" cy="475489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6"/>
          <p:cNvSpPr txBox="1"/>
          <p:nvPr/>
        </p:nvSpPr>
        <p:spPr>
          <a:xfrm>
            <a:off x="868680" y="2564891"/>
            <a:ext cx="38404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7" name="Text 7"/>
          <p:cNvSpPr txBox="1"/>
          <p:nvPr/>
        </p:nvSpPr>
        <p:spPr>
          <a:xfrm>
            <a:off x="1600200" y="2135375"/>
            <a:ext cx="512064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Change Program 개발 소스 분석</a:t>
            </a:r>
          </a:p>
        </p:txBody>
      </p:sp>
      <p:sp>
        <p:nvSpPr>
          <p:cNvPr id="158" name="Text 8"/>
          <p:cNvSpPr txBox="1"/>
          <p:nvPr/>
        </p:nvSpPr>
        <p:spPr>
          <a:xfrm>
            <a:off x="1600200" y="2743962"/>
            <a:ext cx="5120640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Change Program 이슈에 커밋된 SVN 소스 변경 이력을 조회하고, AI로 변경 영향도를 분석합니다. 이슈 키·요약 검색, SVN 커밋·revision diff 조회, Change Program 변경 소스 위험도·체크리스트 생성까지 한 화면에서 수행합니다.</a:t>
            </a:r>
          </a:p>
        </p:txBody>
      </p:sp>
      <p:sp>
        <p:nvSpPr>
          <p:cNvPr id="159" name="Shape 9"/>
          <p:cNvSpPr/>
          <p:nvPr/>
        </p:nvSpPr>
        <p:spPr>
          <a:xfrm>
            <a:off x="7040880" y="2395727"/>
            <a:ext cx="1783081" cy="868682"/>
          </a:xfrm>
          <a:prstGeom prst="roundRect">
            <a:avLst>
              <a:gd name="adj" fmla="val 6316"/>
            </a:avLst>
          </a:prstGeom>
          <a:solidFill>
            <a:srgbClr val="E8ECF1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0"/>
          <p:cNvSpPr txBox="1"/>
          <p:nvPr/>
        </p:nvSpPr>
        <p:spPr>
          <a:xfrm>
            <a:off x="7086600" y="2533266"/>
            <a:ext cx="1691639" cy="59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기존</a:t>
            </a:r>
          </a:p>
          <a:p>
            <a:pPr algn="ctr">
              <a:defRPr b="1" sz="10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b="0" sz="1100">
                <a:solidFill>
                  <a:srgbClr val="1F1F1F"/>
                </a:solidFill>
              </a:rPr>
              <a:t>SVN · Jira를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따로 확인</a:t>
            </a:r>
          </a:p>
        </p:txBody>
      </p:sp>
      <p:sp>
        <p:nvSpPr>
          <p:cNvPr id="161" name="Shape 11"/>
          <p:cNvSpPr/>
          <p:nvPr/>
        </p:nvSpPr>
        <p:spPr>
          <a:xfrm>
            <a:off x="8887968" y="2825495"/>
            <a:ext cx="457201" cy="1"/>
          </a:xfrm>
          <a:prstGeom prst="line">
            <a:avLst/>
          </a:prstGeom>
          <a:ln w="317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12"/>
          <p:cNvSpPr/>
          <p:nvPr/>
        </p:nvSpPr>
        <p:spPr>
          <a:xfrm>
            <a:off x="9436607" y="2395727"/>
            <a:ext cx="1874521" cy="868682"/>
          </a:xfrm>
          <a:prstGeom prst="roundRect">
            <a:avLst>
              <a:gd name="adj" fmla="val 6316"/>
            </a:avLst>
          </a:prstGeom>
          <a:solidFill>
            <a:srgbClr val="E8ECF1"/>
          </a:solidFill>
          <a:ln w="12700">
            <a:solidFill>
              <a:srgbClr val="1E4E9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3"/>
          <p:cNvSpPr txBox="1"/>
          <p:nvPr/>
        </p:nvSpPr>
        <p:spPr>
          <a:xfrm>
            <a:off x="9482327" y="2533266"/>
            <a:ext cx="1783081" cy="59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개선</a:t>
            </a:r>
          </a:p>
          <a:p>
            <a:pPr algn="ctr">
              <a:defRPr b="1" sz="10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z="1100">
                <a:solidFill>
                  <a:srgbClr val="1F1F1F"/>
                </a:solidFill>
              </a:rPr>
              <a:t>한 화면에서</a:t>
            </a:r>
          </a:p>
          <a:p>
            <a:pPr algn="ctr">
              <a:defRPr b="1"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소스 통합 관리</a:t>
            </a:r>
          </a:p>
        </p:txBody>
      </p:sp>
      <p:sp>
        <p:nvSpPr>
          <p:cNvPr id="164" name="Shape 14"/>
          <p:cNvSpPr/>
          <p:nvPr/>
        </p:nvSpPr>
        <p:spPr>
          <a:xfrm>
            <a:off x="502919" y="4023359"/>
            <a:ext cx="11183113" cy="2011681"/>
          </a:xfrm>
          <a:prstGeom prst="roundRect">
            <a:avLst>
              <a:gd name="adj" fmla="val 3636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Shape 15"/>
          <p:cNvSpPr/>
          <p:nvPr/>
        </p:nvSpPr>
        <p:spPr>
          <a:xfrm>
            <a:off x="822960" y="4681728"/>
            <a:ext cx="475489" cy="475489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6"/>
          <p:cNvSpPr txBox="1"/>
          <p:nvPr/>
        </p:nvSpPr>
        <p:spPr>
          <a:xfrm>
            <a:off x="868680" y="4759451"/>
            <a:ext cx="384048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" name="Text 17"/>
          <p:cNvSpPr txBox="1"/>
          <p:nvPr/>
        </p:nvSpPr>
        <p:spPr>
          <a:xfrm>
            <a:off x="1600200" y="4329936"/>
            <a:ext cx="5120640" cy="346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Release 단위 개발 소스 추출</a:t>
            </a:r>
          </a:p>
        </p:txBody>
      </p:sp>
      <p:sp>
        <p:nvSpPr>
          <p:cNvPr id="168" name="Text 18"/>
          <p:cNvSpPr txBox="1"/>
          <p:nvPr/>
        </p:nvSpPr>
        <p:spPr>
          <a:xfrm>
            <a:off x="1600200" y="4938521"/>
            <a:ext cx="5120640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릴리스 버전을 선택해 해당 버전에 포함된 Change Program 이슈와 소스 변경 내역을 조회합니다. 버전·컴포넌트 필터, 소스 변경 파일 취합, CSV 다운로드를 지원해 물량 배포 점검을 자동화합니다.</a:t>
            </a:r>
          </a:p>
        </p:txBody>
      </p:sp>
      <p:sp>
        <p:nvSpPr>
          <p:cNvPr id="169" name="Shape 19"/>
          <p:cNvSpPr/>
          <p:nvPr/>
        </p:nvSpPr>
        <p:spPr>
          <a:xfrm>
            <a:off x="7040880" y="4590288"/>
            <a:ext cx="1783081" cy="868681"/>
          </a:xfrm>
          <a:prstGeom prst="roundRect">
            <a:avLst>
              <a:gd name="adj" fmla="val 6316"/>
            </a:avLst>
          </a:prstGeom>
          <a:solidFill>
            <a:srgbClr val="E8ECF1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20"/>
          <p:cNvSpPr txBox="1"/>
          <p:nvPr/>
        </p:nvSpPr>
        <p:spPr>
          <a:xfrm>
            <a:off x="7086600" y="4727826"/>
            <a:ext cx="1691639" cy="593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기존</a:t>
            </a:r>
          </a:p>
          <a:p>
            <a:pPr algn="ctr">
              <a:defRPr b="1" sz="10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b="0" sz="1100">
                <a:solidFill>
                  <a:srgbClr val="1F1F1F"/>
                </a:solidFill>
              </a:rPr>
              <a:t>버전별 소스목록</a:t>
            </a:r>
          </a:p>
          <a:p>
            <a:pPr algn="ctr"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수작업 취합</a:t>
            </a:r>
          </a:p>
        </p:txBody>
      </p:sp>
      <p:sp>
        <p:nvSpPr>
          <p:cNvPr id="171" name="Shape 21"/>
          <p:cNvSpPr/>
          <p:nvPr/>
        </p:nvSpPr>
        <p:spPr>
          <a:xfrm>
            <a:off x="8887968" y="5020055"/>
            <a:ext cx="457201" cy="1"/>
          </a:xfrm>
          <a:prstGeom prst="line">
            <a:avLst/>
          </a:prstGeom>
          <a:ln w="317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Shape 22"/>
          <p:cNvSpPr/>
          <p:nvPr/>
        </p:nvSpPr>
        <p:spPr>
          <a:xfrm>
            <a:off x="9436607" y="4590288"/>
            <a:ext cx="1874521" cy="868681"/>
          </a:xfrm>
          <a:prstGeom prst="roundRect">
            <a:avLst>
              <a:gd name="adj" fmla="val 6316"/>
            </a:avLst>
          </a:prstGeom>
          <a:solidFill>
            <a:srgbClr val="E8ECF1"/>
          </a:solidFill>
          <a:ln w="12700">
            <a:solidFill>
              <a:srgbClr val="1E4E9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23"/>
          <p:cNvSpPr txBox="1"/>
          <p:nvPr/>
        </p:nvSpPr>
        <p:spPr>
          <a:xfrm>
            <a:off x="9482327" y="4727826"/>
            <a:ext cx="1783081" cy="593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개선</a:t>
            </a:r>
          </a:p>
          <a:p>
            <a:pPr algn="ctr">
              <a:defRPr b="1" sz="10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 sz="1100">
                <a:solidFill>
                  <a:srgbClr val="1F1F1F"/>
                </a:solidFill>
              </a:rPr>
              <a:t>프로그램 기반</a:t>
            </a:r>
          </a:p>
          <a:p>
            <a:pPr algn="ctr">
              <a:defRPr b="1"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자동 추출</a:t>
            </a:r>
          </a:p>
        </p:txBody>
      </p:sp>
      <p:sp>
        <p:nvSpPr>
          <p:cNvPr id="174" name="Text 24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FOR OPERATORS</a:t>
            </a:r>
          </a:p>
        </p:txBody>
      </p:sp>
      <p:sp>
        <p:nvSpPr>
          <p:cNvPr id="178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핵심 기능 ② 운영자를 위한 기능</a:t>
            </a:r>
          </a:p>
        </p:txBody>
      </p:sp>
      <p:sp>
        <p:nvSpPr>
          <p:cNvPr id="179" name="Shape 3"/>
          <p:cNvSpPr/>
          <p:nvPr/>
        </p:nvSpPr>
        <p:spPr>
          <a:xfrm>
            <a:off x="502919" y="1298447"/>
            <a:ext cx="11183113" cy="1298449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" name="Shape 4"/>
          <p:cNvSpPr/>
          <p:nvPr/>
        </p:nvSpPr>
        <p:spPr>
          <a:xfrm>
            <a:off x="822960" y="1673351"/>
            <a:ext cx="512065" cy="512065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5"/>
          <p:cNvSpPr txBox="1"/>
          <p:nvPr/>
        </p:nvSpPr>
        <p:spPr>
          <a:xfrm>
            <a:off x="868680" y="1763013"/>
            <a:ext cx="420625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★</a:t>
            </a:r>
          </a:p>
        </p:txBody>
      </p:sp>
      <p:sp>
        <p:nvSpPr>
          <p:cNvPr id="182" name="Text 6"/>
          <p:cNvSpPr txBox="1"/>
          <p:nvPr/>
        </p:nvSpPr>
        <p:spPr>
          <a:xfrm>
            <a:off x="1554479" y="1474785"/>
            <a:ext cx="6858001" cy="36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Release 간 소스 변경 분석</a:t>
            </a:r>
          </a:p>
        </p:txBody>
      </p:sp>
      <p:sp>
        <p:nvSpPr>
          <p:cNvPr id="183" name="Text 7"/>
          <p:cNvSpPr txBox="1"/>
          <p:nvPr/>
        </p:nvSpPr>
        <p:spPr>
          <a:xfrm>
            <a:off x="1554479" y="2044446"/>
            <a:ext cx="731520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두 릴리스 버전 간 SVN 레포지토리별 소스 변경 내역을 자동 비교·분석하여 배포 영향 범위를 파악합니다.</a:t>
            </a:r>
          </a:p>
        </p:txBody>
      </p:sp>
      <p:sp>
        <p:nvSpPr>
          <p:cNvPr id="184" name="Shape 8"/>
          <p:cNvSpPr/>
          <p:nvPr/>
        </p:nvSpPr>
        <p:spPr>
          <a:xfrm>
            <a:off x="9052559" y="1755648"/>
            <a:ext cx="2423161" cy="475489"/>
          </a:xfrm>
          <a:prstGeom prst="roundRect">
            <a:avLst>
              <a:gd name="adj" fmla="val 19231"/>
            </a:avLst>
          </a:prstGeom>
          <a:solidFill>
            <a:srgbClr val="E8ECF1"/>
          </a:solidFill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9"/>
          <p:cNvSpPr txBox="1"/>
          <p:nvPr/>
        </p:nvSpPr>
        <p:spPr>
          <a:xfrm>
            <a:off x="9098279" y="1867025"/>
            <a:ext cx="2331721" cy="25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0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제공 범위  </a:t>
            </a:r>
            <a:r>
              <a:rPr b="0">
                <a:solidFill>
                  <a:srgbClr val="1F1F1F"/>
                </a:solidFill>
              </a:rPr>
              <a:t>UI / ESB / PO Layer</a:t>
            </a:r>
          </a:p>
        </p:txBody>
      </p:sp>
      <p:sp>
        <p:nvSpPr>
          <p:cNvPr id="186" name="Text 10"/>
          <p:cNvSpPr txBox="1"/>
          <p:nvPr/>
        </p:nvSpPr>
        <p:spPr>
          <a:xfrm>
            <a:off x="548639" y="2754691"/>
            <a:ext cx="7223761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Release 분석에 연계되는 AI 리포트 4종</a:t>
            </a:r>
          </a:p>
        </p:txBody>
      </p:sp>
      <p:sp>
        <p:nvSpPr>
          <p:cNvPr id="187" name="Shape 11"/>
          <p:cNvSpPr/>
          <p:nvPr/>
        </p:nvSpPr>
        <p:spPr>
          <a:xfrm>
            <a:off x="502919" y="3145535"/>
            <a:ext cx="2670050" cy="2651761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Shape 12"/>
          <p:cNvSpPr/>
          <p:nvPr/>
        </p:nvSpPr>
        <p:spPr>
          <a:xfrm>
            <a:off x="758951" y="3364991"/>
            <a:ext cx="420625" cy="420625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13"/>
          <p:cNvSpPr txBox="1"/>
          <p:nvPr/>
        </p:nvSpPr>
        <p:spPr>
          <a:xfrm>
            <a:off x="804672" y="3427983"/>
            <a:ext cx="32918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0" name="Text 14"/>
          <p:cNvSpPr txBox="1"/>
          <p:nvPr/>
        </p:nvSpPr>
        <p:spPr>
          <a:xfrm>
            <a:off x="804672" y="4007419"/>
            <a:ext cx="2066545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Source Diff AI 리포트</a:t>
            </a:r>
          </a:p>
        </p:txBody>
      </p:sp>
      <p:sp>
        <p:nvSpPr>
          <p:cNvPr id="191" name="Text 15"/>
          <p:cNvSpPr txBox="1"/>
          <p:nvPr/>
        </p:nvSpPr>
        <p:spPr>
          <a:xfrm>
            <a:off x="804672" y="4736472"/>
            <a:ext cx="2066545" cy="686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레포별 병렬 LLM + cross-repo 종합으로 변경 내용을 요약하고 위험도를 도출합니다.</a:t>
            </a:r>
          </a:p>
        </p:txBody>
      </p:sp>
      <p:sp>
        <p:nvSpPr>
          <p:cNvPr id="192" name="Shape 16"/>
          <p:cNvSpPr/>
          <p:nvPr/>
        </p:nvSpPr>
        <p:spPr>
          <a:xfrm>
            <a:off x="3337559" y="3145535"/>
            <a:ext cx="2670049" cy="2651761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Shape 17"/>
          <p:cNvSpPr/>
          <p:nvPr/>
        </p:nvSpPr>
        <p:spPr>
          <a:xfrm>
            <a:off x="3593591" y="3364991"/>
            <a:ext cx="420625" cy="420625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18"/>
          <p:cNvSpPr txBox="1"/>
          <p:nvPr/>
        </p:nvSpPr>
        <p:spPr>
          <a:xfrm>
            <a:off x="3639311" y="3427983"/>
            <a:ext cx="32918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5" name="Text 19"/>
          <p:cNvSpPr txBox="1"/>
          <p:nvPr/>
        </p:nvSpPr>
        <p:spPr>
          <a:xfrm>
            <a:off x="3639311" y="4007419"/>
            <a:ext cx="2066545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심층 위험도 분석</a:t>
            </a:r>
          </a:p>
        </p:txBody>
      </p:sp>
      <p:sp>
        <p:nvSpPr>
          <p:cNvPr id="196" name="Text 20"/>
          <p:cNvSpPr txBox="1"/>
          <p:nvPr/>
        </p:nvSpPr>
        <p:spPr>
          <a:xfrm>
            <a:off x="3639311" y="4736472"/>
            <a:ext cx="2066545" cy="686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S-GOV tool-calling으로 자산별 caller 수·연관 DB를 확인해 HIGH/MED/LOW를 산정합니다.</a:t>
            </a:r>
          </a:p>
        </p:txBody>
      </p:sp>
      <p:sp>
        <p:nvSpPr>
          <p:cNvPr id="197" name="Shape 21"/>
          <p:cNvSpPr/>
          <p:nvPr/>
        </p:nvSpPr>
        <p:spPr>
          <a:xfrm>
            <a:off x="6172200" y="3145535"/>
            <a:ext cx="2670049" cy="2651761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" name="Shape 22"/>
          <p:cNvSpPr/>
          <p:nvPr/>
        </p:nvSpPr>
        <p:spPr>
          <a:xfrm>
            <a:off x="6428232" y="3364991"/>
            <a:ext cx="420625" cy="420625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23"/>
          <p:cNvSpPr txBox="1"/>
          <p:nvPr/>
        </p:nvSpPr>
        <p:spPr>
          <a:xfrm>
            <a:off x="6473952" y="3427983"/>
            <a:ext cx="32918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0" name="Text 24"/>
          <p:cNvSpPr txBox="1"/>
          <p:nvPr/>
        </p:nvSpPr>
        <p:spPr>
          <a:xfrm>
            <a:off x="6473952" y="4007419"/>
            <a:ext cx="2066545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회귀 테스트 범위</a:t>
            </a:r>
          </a:p>
        </p:txBody>
      </p:sp>
      <p:sp>
        <p:nvSpPr>
          <p:cNvPr id="201" name="Text 25"/>
          <p:cNvSpPr txBox="1"/>
          <p:nvPr/>
        </p:nvSpPr>
        <p:spPr>
          <a:xfrm>
            <a:off x="6473952" y="4736472"/>
            <a:ext cx="2066545" cy="686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S-GOV 호출관계를 추적해 영향받는 화면·파이프라인 테스트 체크리스트를 도출합니다.</a:t>
            </a:r>
          </a:p>
        </p:txBody>
      </p:sp>
      <p:sp>
        <p:nvSpPr>
          <p:cNvPr id="202" name="Shape 26"/>
          <p:cNvSpPr/>
          <p:nvPr/>
        </p:nvSpPr>
        <p:spPr>
          <a:xfrm>
            <a:off x="9006840" y="3145535"/>
            <a:ext cx="2670049" cy="2651761"/>
          </a:xfrm>
          <a:prstGeom prst="roundRect">
            <a:avLst>
              <a:gd name="adj" fmla="val 2759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Shape 27"/>
          <p:cNvSpPr/>
          <p:nvPr/>
        </p:nvSpPr>
        <p:spPr>
          <a:xfrm>
            <a:off x="9262871" y="3364991"/>
            <a:ext cx="420625" cy="420625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28"/>
          <p:cNvSpPr txBox="1"/>
          <p:nvPr/>
        </p:nvSpPr>
        <p:spPr>
          <a:xfrm>
            <a:off x="9308591" y="3427983"/>
            <a:ext cx="329185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5" name="Text 29"/>
          <p:cNvSpPr txBox="1"/>
          <p:nvPr/>
        </p:nvSpPr>
        <p:spPr>
          <a:xfrm>
            <a:off x="9308591" y="4007419"/>
            <a:ext cx="2066545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릴리스 노트 생성</a:t>
            </a:r>
          </a:p>
        </p:txBody>
      </p:sp>
      <p:sp>
        <p:nvSpPr>
          <p:cNvPr id="206" name="Text 30"/>
          <p:cNvSpPr txBox="1"/>
          <p:nvPr/>
        </p:nvSpPr>
        <p:spPr>
          <a:xfrm>
            <a:off x="9308591" y="4736472"/>
            <a:ext cx="2066545" cy="686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변경 내역을 운영자용 마크다운 배포 노트로 자동 정리해 배포 커뮤니케이션을 지원합니다.</a:t>
            </a:r>
          </a:p>
        </p:txBody>
      </p:sp>
      <p:sp>
        <p:nvSpPr>
          <p:cNvPr id="207" name="Text 31"/>
          <p:cNvSpPr txBox="1"/>
          <p:nvPr/>
        </p:nvSpPr>
        <p:spPr>
          <a:xfrm>
            <a:off x="548639" y="5942147"/>
            <a:ext cx="11155682" cy="295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→ 운영자는 배포 전 위험도 · 회귀 범위 · 릴리스 노트를 자동으로 확보하여 배포 안정성을 높일 수 있습니다.</a:t>
            </a:r>
          </a:p>
        </p:txBody>
      </p:sp>
      <p:sp>
        <p:nvSpPr>
          <p:cNvPr id="208" name="Text 32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LLM QUALITY &amp; ANTI-HALLUCINATION</a:t>
            </a:r>
          </a:p>
        </p:txBody>
      </p:sp>
      <p:sp>
        <p:nvSpPr>
          <p:cNvPr id="212" name="Text 2"/>
          <p:cNvSpPr txBox="1"/>
          <p:nvPr/>
        </p:nvSpPr>
        <p:spPr>
          <a:xfrm>
            <a:off x="530351" y="642679"/>
            <a:ext cx="11155682" cy="56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LLM 품질·정확성 향상 및 할루시네이션 방지</a:t>
            </a:r>
          </a:p>
        </p:txBody>
      </p:sp>
      <p:sp>
        <p:nvSpPr>
          <p:cNvPr id="213" name="Text 3"/>
          <p:cNvSpPr txBox="1"/>
          <p:nvPr/>
        </p:nvSpPr>
        <p:spPr>
          <a:xfrm>
            <a:off x="548639" y="1238095"/>
            <a:ext cx="11155682" cy="55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7999"/>
              </a:lnSpc>
              <a:defRPr sz="13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AI 분석 결과를 믿고 쓸 수 있도록, </a:t>
            </a:r>
            <a:r>
              <a:rPr b="1">
                <a:solidFill>
                  <a:srgbClr val="C00000"/>
                </a:solidFill>
              </a:rPr>
              <a:t>“무엇을 볼지는 프로그램이 정하고, AI는 판단만 한다”</a:t>
            </a:r>
            <a:r>
              <a:t>는 원칙을 세웠습니다. 그 위에 여러 검증·보정 장치를 더해 정확성을 높이고 할루시네이션을 막았습니다.</a:t>
            </a:r>
          </a:p>
        </p:txBody>
      </p:sp>
      <p:sp>
        <p:nvSpPr>
          <p:cNvPr id="214" name="Text 4"/>
          <p:cNvSpPr txBox="1"/>
          <p:nvPr/>
        </p:nvSpPr>
        <p:spPr>
          <a:xfrm>
            <a:off x="548639" y="1879217"/>
            <a:ext cx="5029201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무엇이 문제였나</a:t>
            </a:r>
          </a:p>
        </p:txBody>
      </p:sp>
      <p:sp>
        <p:nvSpPr>
          <p:cNvPr id="215" name="Text 5"/>
          <p:cNvSpPr txBox="1"/>
          <p:nvPr/>
        </p:nvSpPr>
        <p:spPr>
          <a:xfrm>
            <a:off x="6400800" y="1879217"/>
            <a:ext cx="5239512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어떻게 해결했나</a:t>
            </a:r>
          </a:p>
        </p:txBody>
      </p:sp>
      <p:sp>
        <p:nvSpPr>
          <p:cNvPr id="216" name="Shape 6"/>
          <p:cNvSpPr/>
          <p:nvPr/>
        </p:nvSpPr>
        <p:spPr>
          <a:xfrm>
            <a:off x="502919" y="2249423"/>
            <a:ext cx="5120642" cy="786385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7"/>
          <p:cNvSpPr txBox="1"/>
          <p:nvPr/>
        </p:nvSpPr>
        <p:spPr>
          <a:xfrm>
            <a:off x="758952" y="2501646"/>
            <a:ext cx="466344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AI가 분석 대상 소스를 매번 스스로 골라 실행마다 범위가 바뀜</a:t>
            </a:r>
          </a:p>
        </p:txBody>
      </p:sp>
      <p:sp>
        <p:nvSpPr>
          <p:cNvPr id="218" name="Shape 8"/>
          <p:cNvSpPr/>
          <p:nvPr/>
        </p:nvSpPr>
        <p:spPr>
          <a:xfrm>
            <a:off x="5687567" y="2642616"/>
            <a:ext cx="566929" cy="1"/>
          </a:xfrm>
          <a:prstGeom prst="line">
            <a:avLst/>
          </a:prstGeom>
          <a:ln w="317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Shape 9"/>
          <p:cNvSpPr/>
          <p:nvPr/>
        </p:nvSpPr>
        <p:spPr>
          <a:xfrm>
            <a:off x="6355079" y="2249423"/>
            <a:ext cx="5330954" cy="786385"/>
          </a:xfrm>
          <a:prstGeom prst="roundRect">
            <a:avLst>
              <a:gd name="adj" fmla="val 6977"/>
            </a:avLst>
          </a:prstGeom>
          <a:solidFill>
            <a:srgbClr val="E8ECF1"/>
          </a:solidFill>
          <a:ln w="12700">
            <a:solidFill>
              <a:srgbClr val="1E4E9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0"/>
          <p:cNvSpPr txBox="1"/>
          <p:nvPr/>
        </p:nvSpPr>
        <p:spPr>
          <a:xfrm>
            <a:off x="6611111" y="2391446"/>
            <a:ext cx="4846322" cy="502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분석 대상(레포·자산) 선정을 코드가 규칙으로 고정 → 매 실행 동일 범위를 분석, 결과 편차·누락 최소화</a:t>
            </a:r>
          </a:p>
        </p:txBody>
      </p:sp>
      <p:sp>
        <p:nvSpPr>
          <p:cNvPr id="221" name="Shape 11"/>
          <p:cNvSpPr/>
          <p:nvPr/>
        </p:nvSpPr>
        <p:spPr>
          <a:xfrm>
            <a:off x="502919" y="3154679"/>
            <a:ext cx="5120642" cy="786385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2"/>
          <p:cNvSpPr txBox="1"/>
          <p:nvPr/>
        </p:nvSpPr>
        <p:spPr>
          <a:xfrm>
            <a:off x="758952" y="3406901"/>
            <a:ext cx="466344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소스량이 많으면 일부만 보고 근거 없이 “문제없음”으로 단정</a:t>
            </a:r>
          </a:p>
        </p:txBody>
      </p:sp>
      <p:sp>
        <p:nvSpPr>
          <p:cNvPr id="223" name="Shape 13"/>
          <p:cNvSpPr/>
          <p:nvPr/>
        </p:nvSpPr>
        <p:spPr>
          <a:xfrm>
            <a:off x="5687567" y="3547871"/>
            <a:ext cx="566929" cy="1"/>
          </a:xfrm>
          <a:prstGeom prst="line">
            <a:avLst/>
          </a:prstGeom>
          <a:ln w="317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Shape 14"/>
          <p:cNvSpPr/>
          <p:nvPr/>
        </p:nvSpPr>
        <p:spPr>
          <a:xfrm>
            <a:off x="6355079" y="3154679"/>
            <a:ext cx="5330954" cy="786385"/>
          </a:xfrm>
          <a:prstGeom prst="roundRect">
            <a:avLst>
              <a:gd name="adj" fmla="val 6977"/>
            </a:avLst>
          </a:prstGeom>
          <a:solidFill>
            <a:srgbClr val="E8ECF1"/>
          </a:solidFill>
          <a:ln w="12700">
            <a:solidFill>
              <a:srgbClr val="1E4E9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15"/>
          <p:cNvSpPr txBox="1"/>
          <p:nvPr/>
        </p:nvSpPr>
        <p:spPr>
          <a:xfrm>
            <a:off x="6611111" y="3400115"/>
            <a:ext cx="4846322" cy="295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레포별로 나눠 빠짐없이 병렬 분석 후 종합(Map-Reduce) → 정보 누락 최소화</a:t>
            </a:r>
          </a:p>
        </p:txBody>
      </p:sp>
      <p:sp>
        <p:nvSpPr>
          <p:cNvPr id="226" name="Shape 16"/>
          <p:cNvSpPr/>
          <p:nvPr/>
        </p:nvSpPr>
        <p:spPr>
          <a:xfrm>
            <a:off x="502919" y="4059935"/>
            <a:ext cx="5120642" cy="786385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17"/>
          <p:cNvSpPr txBox="1"/>
          <p:nvPr/>
        </p:nvSpPr>
        <p:spPr>
          <a:xfrm>
            <a:off x="758952" y="4312157"/>
            <a:ext cx="466344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조회되지 않은 자산 ID·이름을 그럴듯하게 지어냄</a:t>
            </a:r>
          </a:p>
        </p:txBody>
      </p:sp>
      <p:sp>
        <p:nvSpPr>
          <p:cNvPr id="228" name="Shape 18"/>
          <p:cNvSpPr/>
          <p:nvPr/>
        </p:nvSpPr>
        <p:spPr>
          <a:xfrm>
            <a:off x="5687567" y="4453128"/>
            <a:ext cx="566929" cy="1"/>
          </a:xfrm>
          <a:prstGeom prst="line">
            <a:avLst/>
          </a:prstGeom>
          <a:ln w="31750">
            <a:solidFill>
              <a:srgbClr val="1E4E9B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19"/>
          <p:cNvSpPr/>
          <p:nvPr/>
        </p:nvSpPr>
        <p:spPr>
          <a:xfrm>
            <a:off x="6355079" y="4059935"/>
            <a:ext cx="5330954" cy="786385"/>
          </a:xfrm>
          <a:prstGeom prst="roundRect">
            <a:avLst>
              <a:gd name="adj" fmla="val 6977"/>
            </a:avLst>
          </a:prstGeom>
          <a:solidFill>
            <a:srgbClr val="E8ECF1"/>
          </a:solidFill>
          <a:ln w="12700">
            <a:solidFill>
              <a:srgbClr val="1E4E9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0"/>
          <p:cNvSpPr txBox="1"/>
          <p:nvPr/>
        </p:nvSpPr>
        <p:spPr>
          <a:xfrm>
            <a:off x="6611111" y="4201958"/>
            <a:ext cx="4846322" cy="502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08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실제 조회된 값만 사용하도록 강제, 없는 데이터는 분석에서 제외 → 지어내기 차단</a:t>
            </a:r>
          </a:p>
        </p:txBody>
      </p:sp>
      <p:sp>
        <p:nvSpPr>
          <p:cNvPr id="231" name="Text 21"/>
          <p:cNvSpPr txBox="1"/>
          <p:nvPr/>
        </p:nvSpPr>
        <p:spPr>
          <a:xfrm>
            <a:off x="548639" y="5013259"/>
            <a:ext cx="5394961" cy="306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C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그 외 정확성·일관성 장치</a:t>
            </a:r>
          </a:p>
        </p:txBody>
      </p:sp>
      <p:sp>
        <p:nvSpPr>
          <p:cNvPr id="232" name="Shape 22"/>
          <p:cNvSpPr/>
          <p:nvPr/>
        </p:nvSpPr>
        <p:spPr>
          <a:xfrm>
            <a:off x="502919" y="5340096"/>
            <a:ext cx="11183113" cy="786385"/>
          </a:xfrm>
          <a:prstGeom prst="roundRect">
            <a:avLst>
              <a:gd name="adj" fmla="val 9302"/>
            </a:avLst>
          </a:prstGeom>
          <a:solidFill>
            <a:srgbClr val="ECEFF3"/>
          </a:solidFill>
          <a:ln w="12700">
            <a:solidFill>
              <a:srgbClr val="D3D9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23"/>
          <p:cNvSpPr txBox="1"/>
          <p:nvPr/>
        </p:nvSpPr>
        <p:spPr>
          <a:xfrm>
            <a:off x="822959" y="5489163"/>
            <a:ext cx="10515601" cy="488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25000"/>
              </a:lnSpc>
              <a:defRPr b="1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정량 위험도 기준 고정</a:t>
            </a:r>
            <a:r>
              <a:rPr b="0">
                <a:solidFill>
                  <a:srgbClr val="1F1F1F"/>
                </a:solidFill>
              </a:rPr>
              <a:t> (caller 50+·DB 5개+ → HIGH 등 수치 규칙)      </a:t>
            </a:r>
            <a:r>
              <a:t>필수 확인 단계 강제</a:t>
            </a:r>
            <a:r>
              <a:rPr b="0">
                <a:solidFill>
                  <a:srgbClr val="1F1F1F"/>
                </a:solidFill>
              </a:rPr>
              <a:t> (통계만 보고 조기 종료 금지)</a:t>
            </a:r>
            <a:endParaRPr b="0">
              <a:solidFill>
                <a:srgbClr val="1F1F1F"/>
              </a:solidFill>
            </a:endParaRPr>
          </a:p>
          <a:p>
            <a:pPr algn="ctr">
              <a:lnSpc>
                <a:spcPct val="125000"/>
              </a:lnSpc>
              <a:defRPr b="1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입력 품질 보정</a:t>
            </a:r>
            <a:r>
              <a:rPr b="0">
                <a:solidFill>
                  <a:srgbClr val="1F1F1F"/>
                </a:solidFill>
              </a:rPr>
              <a:t> (한글 EUC-KR 인코딩 복원 · 노이즈 파일 필터)      </a:t>
            </a:r>
            <a:r>
              <a:t>결과 일관성</a:t>
            </a:r>
            <a:r>
              <a:rPr b="0">
                <a:solidFill>
                  <a:srgbClr val="1F1F1F"/>
                </a:solidFill>
              </a:rPr>
              <a:t> (중복 조회 캐시 · 위험도 값 코드 정규화)</a:t>
            </a:r>
          </a:p>
        </p:txBody>
      </p:sp>
      <p:sp>
        <p:nvSpPr>
          <p:cNvPr id="234" name="Text 24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  <p:sp>
        <p:nvSpPr>
          <p:cNvPr id="235" name="Text 25"/>
          <p:cNvSpPr txBox="1"/>
          <p:nvPr/>
        </p:nvSpPr>
        <p:spPr>
          <a:xfrm>
            <a:off x="8275319" y="6458965"/>
            <a:ext cx="292608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Confidential · Internal Use Only</a:t>
            </a:r>
          </a:p>
        </p:txBody>
      </p:sp>
      <p:sp>
        <p:nvSpPr>
          <p:cNvPr id="236" name="Text 26"/>
          <p:cNvSpPr txBox="1"/>
          <p:nvPr/>
        </p:nvSpPr>
        <p:spPr>
          <a:xfrm>
            <a:off x="11521439" y="6458965"/>
            <a:ext cx="2286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502919" y="420623"/>
            <a:ext cx="118872" cy="118872"/>
          </a:xfrm>
          <a:prstGeom prst="rect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"/>
          <p:cNvSpPr txBox="1"/>
          <p:nvPr/>
        </p:nvSpPr>
        <p:spPr>
          <a:xfrm>
            <a:off x="740663" y="356362"/>
            <a:ext cx="106984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1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EXPECTED EFFECTS</a:t>
            </a:r>
          </a:p>
        </p:txBody>
      </p:sp>
      <p:sp>
        <p:nvSpPr>
          <p:cNvPr id="240" name="Text 2"/>
          <p:cNvSpPr txBox="1"/>
          <p:nvPr/>
        </p:nvSpPr>
        <p:spPr>
          <a:xfrm>
            <a:off x="530351" y="655574"/>
            <a:ext cx="11155682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기대효과</a:t>
            </a:r>
          </a:p>
        </p:txBody>
      </p:sp>
      <p:sp>
        <p:nvSpPr>
          <p:cNvPr id="241" name="Text 3"/>
          <p:cNvSpPr txBox="1"/>
          <p:nvPr/>
        </p:nvSpPr>
        <p:spPr>
          <a:xfrm>
            <a:off x="548639" y="1367153"/>
            <a:ext cx="11155682" cy="319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배포 전 영향도·위험도 정량 평가로 </a:t>
            </a:r>
            <a:r>
              <a:rPr b="1">
                <a:solidFill>
                  <a:srgbClr val="C00000"/>
                </a:solidFill>
              </a:rPr>
              <a:t>품질·안정성</a:t>
            </a:r>
            <a:r>
              <a:t>을 높이고, 배포 이력 기반의 지속적 개선 체계를 구축합니다.</a:t>
            </a:r>
          </a:p>
        </p:txBody>
      </p:sp>
      <p:sp>
        <p:nvSpPr>
          <p:cNvPr id="242" name="Shape 4"/>
          <p:cNvSpPr/>
          <p:nvPr/>
        </p:nvSpPr>
        <p:spPr>
          <a:xfrm>
            <a:off x="502919" y="2011679"/>
            <a:ext cx="5394961" cy="1783081"/>
          </a:xfrm>
          <a:prstGeom prst="roundRect">
            <a:avLst>
              <a:gd name="adj" fmla="val 410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" name="Shape 5"/>
          <p:cNvSpPr/>
          <p:nvPr/>
        </p:nvSpPr>
        <p:spPr>
          <a:xfrm>
            <a:off x="777240" y="2514600"/>
            <a:ext cx="658369" cy="658369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6"/>
          <p:cNvSpPr txBox="1"/>
          <p:nvPr/>
        </p:nvSpPr>
        <p:spPr>
          <a:xfrm>
            <a:off x="822960" y="2607563"/>
            <a:ext cx="56692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45" name="Text 7"/>
          <p:cNvSpPr txBox="1"/>
          <p:nvPr/>
        </p:nvSpPr>
        <p:spPr>
          <a:xfrm>
            <a:off x="1691639" y="2336543"/>
            <a:ext cx="393192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품질 · 안정성 향상</a:t>
            </a:r>
          </a:p>
        </p:txBody>
      </p:sp>
      <p:sp>
        <p:nvSpPr>
          <p:cNvPr id="246" name="Text 8"/>
          <p:cNvSpPr txBox="1"/>
          <p:nvPr/>
        </p:nvSpPr>
        <p:spPr>
          <a:xfrm>
            <a:off x="1691640" y="2967990"/>
            <a:ext cx="397764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전 영향도·위험도를 정량 평가하여 장애 위험을 사전에 식별하고, 배포 안정성을 표준화합니다.</a:t>
            </a:r>
          </a:p>
        </p:txBody>
      </p:sp>
      <p:sp>
        <p:nvSpPr>
          <p:cNvPr id="247" name="Shape 9"/>
          <p:cNvSpPr/>
          <p:nvPr/>
        </p:nvSpPr>
        <p:spPr>
          <a:xfrm>
            <a:off x="6126479" y="2011679"/>
            <a:ext cx="5394961" cy="1783081"/>
          </a:xfrm>
          <a:prstGeom prst="roundRect">
            <a:avLst>
              <a:gd name="adj" fmla="val 410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" name="Shape 10"/>
          <p:cNvSpPr/>
          <p:nvPr/>
        </p:nvSpPr>
        <p:spPr>
          <a:xfrm>
            <a:off x="6400800" y="2514600"/>
            <a:ext cx="658369" cy="658369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1"/>
          <p:cNvSpPr txBox="1"/>
          <p:nvPr/>
        </p:nvSpPr>
        <p:spPr>
          <a:xfrm>
            <a:off x="6446520" y="2607563"/>
            <a:ext cx="56692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50" name="Text 12"/>
          <p:cNvSpPr txBox="1"/>
          <p:nvPr/>
        </p:nvSpPr>
        <p:spPr>
          <a:xfrm>
            <a:off x="7315200" y="2336543"/>
            <a:ext cx="393191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점검 시간 단축</a:t>
            </a:r>
          </a:p>
        </p:txBody>
      </p:sp>
      <p:sp>
        <p:nvSpPr>
          <p:cNvPr id="251" name="Text 13"/>
          <p:cNvSpPr txBox="1"/>
          <p:nvPr/>
        </p:nvSpPr>
        <p:spPr>
          <a:xfrm>
            <a:off x="7315200" y="2967990"/>
            <a:ext cx="397764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수동 SVN·엑셀 취합 점검을 자동 Diff·AI 분석으로 대체하여 배포 준비 리드타임을 크게 줄입니다.</a:t>
            </a:r>
          </a:p>
        </p:txBody>
      </p:sp>
      <p:sp>
        <p:nvSpPr>
          <p:cNvPr id="252" name="Shape 14"/>
          <p:cNvSpPr/>
          <p:nvPr/>
        </p:nvSpPr>
        <p:spPr>
          <a:xfrm>
            <a:off x="502919" y="3977640"/>
            <a:ext cx="5394961" cy="1783081"/>
          </a:xfrm>
          <a:prstGeom prst="roundRect">
            <a:avLst>
              <a:gd name="adj" fmla="val 410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" name="Shape 15"/>
          <p:cNvSpPr/>
          <p:nvPr/>
        </p:nvSpPr>
        <p:spPr>
          <a:xfrm>
            <a:off x="777240" y="4480559"/>
            <a:ext cx="658369" cy="658369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16"/>
          <p:cNvSpPr txBox="1"/>
          <p:nvPr/>
        </p:nvSpPr>
        <p:spPr>
          <a:xfrm>
            <a:off x="822960" y="4573524"/>
            <a:ext cx="56692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55" name="Text 17"/>
          <p:cNvSpPr txBox="1"/>
          <p:nvPr/>
        </p:nvSpPr>
        <p:spPr>
          <a:xfrm>
            <a:off x="1691639" y="4302503"/>
            <a:ext cx="3931920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통합 가시성 확보</a:t>
            </a:r>
          </a:p>
        </p:txBody>
      </p:sp>
      <p:sp>
        <p:nvSpPr>
          <p:cNvPr id="256" name="Text 18"/>
          <p:cNvSpPr txBox="1"/>
          <p:nvPr/>
        </p:nvSpPr>
        <p:spPr>
          <a:xfrm>
            <a:off x="1691640" y="4933949"/>
            <a:ext cx="397764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레포별 변경·호출관계·위험도를 단일 화면에서 파악하여 담당자 의존도를 낮춥니다.</a:t>
            </a:r>
          </a:p>
        </p:txBody>
      </p:sp>
      <p:sp>
        <p:nvSpPr>
          <p:cNvPr id="257" name="Shape 19"/>
          <p:cNvSpPr/>
          <p:nvPr/>
        </p:nvSpPr>
        <p:spPr>
          <a:xfrm>
            <a:off x="6126479" y="3977640"/>
            <a:ext cx="5394961" cy="1783081"/>
          </a:xfrm>
          <a:prstGeom prst="roundRect">
            <a:avLst>
              <a:gd name="adj" fmla="val 4103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Shape 20"/>
          <p:cNvSpPr/>
          <p:nvPr/>
        </p:nvSpPr>
        <p:spPr>
          <a:xfrm>
            <a:off x="6400800" y="4480559"/>
            <a:ext cx="658369" cy="658369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21"/>
          <p:cNvSpPr txBox="1"/>
          <p:nvPr/>
        </p:nvSpPr>
        <p:spPr>
          <a:xfrm>
            <a:off x="6446520" y="4573524"/>
            <a:ext cx="566929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60" name="Text 22"/>
          <p:cNvSpPr txBox="1"/>
          <p:nvPr/>
        </p:nvSpPr>
        <p:spPr>
          <a:xfrm>
            <a:off x="7315200" y="4302503"/>
            <a:ext cx="3931919" cy="34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지속적 개선 체계</a:t>
            </a:r>
          </a:p>
        </p:txBody>
      </p:sp>
      <p:sp>
        <p:nvSpPr>
          <p:cNvPr id="261" name="Text 23"/>
          <p:cNvSpPr txBox="1"/>
          <p:nvPr/>
        </p:nvSpPr>
        <p:spPr>
          <a:xfrm>
            <a:off x="7315200" y="4933949"/>
            <a:ext cx="3977640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이력·분석 결과를 축적해 반복 변경되는 High-Risk 소스를 관리하는 개선 순환을 만듭니다.</a:t>
            </a:r>
          </a:p>
        </p:txBody>
      </p:sp>
      <p:sp>
        <p:nvSpPr>
          <p:cNvPr id="262" name="Text 24"/>
          <p:cNvSpPr txBox="1"/>
          <p:nvPr/>
        </p:nvSpPr>
        <p:spPr>
          <a:xfrm>
            <a:off x="548639" y="6454964"/>
            <a:ext cx="7223761" cy="239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 txBox="1"/>
          <p:nvPr/>
        </p:nvSpPr>
        <p:spPr>
          <a:xfrm>
            <a:off x="868680" y="881380"/>
            <a:ext cx="813816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13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SUMMARY &amp; NEXT</a:t>
            </a:r>
          </a:p>
        </p:txBody>
      </p:sp>
      <p:sp>
        <p:nvSpPr>
          <p:cNvPr id="265" name="Text 1"/>
          <p:cNvSpPr txBox="1"/>
          <p:nvPr/>
        </p:nvSpPr>
        <p:spPr>
          <a:xfrm>
            <a:off x="822959" y="1361400"/>
            <a:ext cx="10515601" cy="1209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108000"/>
              </a:lnSpc>
              <a:defRPr b="1" sz="33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t>수동 점검을 자동 분석으로,</a:t>
            </a:r>
          </a:p>
          <a:p>
            <a:pPr>
              <a:lnSpc>
                <a:spcPct val="108000"/>
              </a:lnSpc>
              <a:defRPr b="1" sz="33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pPr>
            <a:r>
              <a:rPr>
                <a:solidFill>
                  <a:srgbClr val="C00000"/>
                </a:solidFill>
              </a:rPr>
              <a:t>배포 위험도를 정량 데이터로.</a:t>
            </a:r>
          </a:p>
        </p:txBody>
      </p:sp>
      <p:sp>
        <p:nvSpPr>
          <p:cNvPr id="266" name="Shape 2"/>
          <p:cNvSpPr/>
          <p:nvPr/>
        </p:nvSpPr>
        <p:spPr>
          <a:xfrm>
            <a:off x="822960" y="3063239"/>
            <a:ext cx="10515601" cy="960121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" name="Shape 3"/>
          <p:cNvSpPr/>
          <p:nvPr/>
        </p:nvSpPr>
        <p:spPr>
          <a:xfrm>
            <a:off x="1097280" y="3355847"/>
            <a:ext cx="402337" cy="402337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4"/>
          <p:cNvSpPr txBox="1"/>
          <p:nvPr/>
        </p:nvSpPr>
        <p:spPr>
          <a:xfrm>
            <a:off x="1143000" y="3409695"/>
            <a:ext cx="31089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69" name="Text 5"/>
          <p:cNvSpPr txBox="1"/>
          <p:nvPr/>
        </p:nvSpPr>
        <p:spPr>
          <a:xfrm>
            <a:off x="1691640" y="3225734"/>
            <a:ext cx="1920240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구축 완료</a:t>
            </a:r>
          </a:p>
        </p:txBody>
      </p:sp>
      <p:sp>
        <p:nvSpPr>
          <p:cNvPr id="270" name="Text 6"/>
          <p:cNvSpPr txBox="1"/>
          <p:nvPr/>
        </p:nvSpPr>
        <p:spPr>
          <a:xfrm>
            <a:off x="3657600" y="3305555"/>
            <a:ext cx="7452360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6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SVN·Jira 통합 소스 조회 · Release 자동 비교/추출 · S-GOV 호출관계 분석 · LLM AI 리포트(위험도·회귀범위·릴리스 노트)를 구현했습니다.</a:t>
            </a:r>
          </a:p>
        </p:txBody>
      </p:sp>
      <p:sp>
        <p:nvSpPr>
          <p:cNvPr id="271" name="Shape 7"/>
          <p:cNvSpPr/>
          <p:nvPr/>
        </p:nvSpPr>
        <p:spPr>
          <a:xfrm>
            <a:off x="822960" y="4123944"/>
            <a:ext cx="10515601" cy="96012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" name="Shape 8"/>
          <p:cNvSpPr/>
          <p:nvPr/>
        </p:nvSpPr>
        <p:spPr>
          <a:xfrm>
            <a:off x="1097280" y="4416552"/>
            <a:ext cx="402337" cy="402337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9"/>
          <p:cNvSpPr txBox="1"/>
          <p:nvPr/>
        </p:nvSpPr>
        <p:spPr>
          <a:xfrm>
            <a:off x="1143000" y="4470400"/>
            <a:ext cx="31089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74" name="Text 10"/>
          <p:cNvSpPr txBox="1"/>
          <p:nvPr/>
        </p:nvSpPr>
        <p:spPr>
          <a:xfrm>
            <a:off x="1691640" y="4286438"/>
            <a:ext cx="1920240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향후 확장</a:t>
            </a:r>
          </a:p>
        </p:txBody>
      </p:sp>
      <p:sp>
        <p:nvSpPr>
          <p:cNvPr id="275" name="Text 11"/>
          <p:cNvSpPr txBox="1"/>
          <p:nvPr/>
        </p:nvSpPr>
        <p:spPr>
          <a:xfrm>
            <a:off x="3657600" y="4476749"/>
            <a:ext cx="74523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6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이력 DB 관리 및 빈도 통계 기능을 통해 소스별 변경 패턴을 자산화하고, 회귀 테스트 범위 생성을 고도화합니다.</a:t>
            </a:r>
          </a:p>
        </p:txBody>
      </p:sp>
      <p:sp>
        <p:nvSpPr>
          <p:cNvPr id="276" name="Shape 12"/>
          <p:cNvSpPr/>
          <p:nvPr/>
        </p:nvSpPr>
        <p:spPr>
          <a:xfrm>
            <a:off x="822960" y="5184647"/>
            <a:ext cx="10515601" cy="960121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 w="12700">
            <a:solidFill>
              <a:srgbClr val="D3D9E0"/>
            </a:solidFill>
          </a:ln>
          <a:effectLst>
            <a:outerShdw sx="100000" sy="100000" kx="0" ky="0" algn="b" rotWithShape="0" blurRad="76200" dist="25400" dir="5400000">
              <a:srgbClr val="AEB6C2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" name="Shape 13"/>
          <p:cNvSpPr/>
          <p:nvPr/>
        </p:nvSpPr>
        <p:spPr>
          <a:xfrm>
            <a:off x="1097280" y="5477255"/>
            <a:ext cx="402337" cy="402337"/>
          </a:xfrm>
          <a:prstGeom prst="ellipse">
            <a:avLst/>
          </a:prstGeom>
          <a:solidFill>
            <a:srgbClr val="1E4E9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4"/>
          <p:cNvSpPr txBox="1"/>
          <p:nvPr/>
        </p:nvSpPr>
        <p:spPr>
          <a:xfrm>
            <a:off x="1143000" y="5531103"/>
            <a:ext cx="310896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79" name="Text 15"/>
          <p:cNvSpPr txBox="1"/>
          <p:nvPr/>
        </p:nvSpPr>
        <p:spPr>
          <a:xfrm>
            <a:off x="1691640" y="5347142"/>
            <a:ext cx="1920240" cy="333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운영 정착</a:t>
            </a:r>
          </a:p>
        </p:txBody>
      </p:sp>
      <p:sp>
        <p:nvSpPr>
          <p:cNvPr id="280" name="Text 16"/>
          <p:cNvSpPr txBox="1"/>
          <p:nvPr/>
        </p:nvSpPr>
        <p:spPr>
          <a:xfrm>
            <a:off x="3657600" y="5537453"/>
            <a:ext cx="74523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lnSpc>
                <a:spcPct val="116000"/>
              </a:lnSpc>
              <a:defRPr sz="1200">
                <a:solidFill>
                  <a:srgbClr val="1F1F1F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이력 데이터 축적을 통해 반복 변경되는 High-Risk 소스 관리 체계를 정례화하고, 배포 품질 지표를 지속 관리합니다.</a:t>
            </a:r>
          </a:p>
        </p:txBody>
      </p:sp>
      <p:sp>
        <p:nvSpPr>
          <p:cNvPr id="281" name="Text 17"/>
          <p:cNvSpPr txBox="1"/>
          <p:nvPr/>
        </p:nvSpPr>
        <p:spPr>
          <a:xfrm>
            <a:off x="868680" y="6411593"/>
            <a:ext cx="10424160" cy="252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E4E9B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배포 소스 영향도 분석 시스템  ·  개발 결과서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